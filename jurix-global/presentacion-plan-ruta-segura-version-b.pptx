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bee6dc2e-e633-7244-d8d1-bfddc6835f0f}">
          <p14:sldIdLst>
            <p14:sldId id="256"/>
          </p14:sldIdLst>
        </p14:section>
        <p14:section name="El problema" id="{fe1b71aa-31aa-6de5-a6b1-cb17ec5c1190}">
          <p14:sldIdLst>
            <p14:sldId id="257"/>
            <p14:sldId id="258"/>
          </p14:sldIdLst>
        </p14:section>
        <p14:section name="La solución" id="{cf62f62f-1063-d547-3447-bc7a484d847f}">
          <p14:sldIdLst>
            <p14:sldId id="259"/>
            <p14:sldId id="260"/>
            <p14:sldId id="261"/>
          </p14:sldIdLst>
        </p14:section>
        <p14:section name="Inversión" id="{8f6e0d91-821c-d1bd-9cbe-c94d163b31c1}">
          <p14:sldIdLst>
            <p14:sldId id="262"/>
            <p14:sldId id="263"/>
            <p14:sldId id="264"/>
          </p14:sldIdLst>
        </p14:section>
        <p14:section name="Opcional" id="{3e145b61-9ff0-71da-0cd2-4693d5a128e1}">
          <p14:sldIdLst>
            <p14:sldId id="265"/>
          </p14:sldIdLst>
        </p14:section>
        <p14:section name="Próximos pasos" id="{8412e726-ea62-b16b-8a3d-7404a8cb1c59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Versión B: el plan de buses y el diagnóstico gratuito son lo principal; la asesoría a la cooperativa aparece solo al final, como opción. Objetivo: conseguir la lista de placas para el diagnóstico y luego presentar el plan en asamblea.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Pregunte al gerente: ¿cuántas multas pagaron los socios el último año y cuántas se enteraron a tiempo para impugnar? El objetivo es que reconozca el problema con sus propios números.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prometa que el dueño quedará libre de responsabilidad: la ley lo hace responsable solidario en lo civil. Lo que ofrecemos es llegar rápido, recuperar el bus y defender su patrimonio.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corazón de la oferta. Insista en que es un servicio permanente: la cooperativa deja de buscar abogado cada vez que hay un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Recalque que el plazo legal es de 3 días. El compromiso del socio es enviarnos la citación dentro de 24 horas. Toda citación recibida a tiempo se impugna: la decisión la toma el juez, no el estudio.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reporte es lo que el gerente presenta al consejo. Le da control sobre la flota sin trabajo adicional.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Haga la cuenta con el número real de buses de la cooperativa. Precios sin 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argumento no es que el socio ahorre en multas: es que el año malo le cuesta la mitad y tiene un abogado desde el primer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 transparentes genera confianza. Ningún abogado puede prometer resultados ni librar al dueño de su responsabilidad civil; lo que garantizamos es atención rápida y profesional.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 la asesoría solo como opción y sin compararla con el abogado actual ni nombrarlo. Deje que el consejo saque sus conclusiones. Descuento de reserva (no está escrito en la presentación): si contratan la asesoría y el plan de buses, la asesoría queda en USD 300. Úselo solo si dudan al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pidiendo la lista de placas para el diagnóstico. Es un compromiso pequeño para la cooperativa y la siguiente reunión ya es con sus propios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4864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5120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pic>
        <p:nvPicPr>
          <p:cNvPr id="3" name="Image 0" descr="Jurix Global, asesoría legal y financi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636008"/>
            <a:ext cx="868680" cy="39259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pic>
        <p:nvPicPr>
          <p:cNvPr id="3" name="Image 0" descr="Jurix Global, asesoría legal y financi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343400"/>
            <a:ext cx="1371600" cy="6198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0" y="4434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FB4F0"/>
                </a:solidFill>
              </a:rPr>
              <a:t>WhatsApp y teléfono: 098 780 4294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4572000" y="4754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Guayaquil, Ecuador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Jurix Global" descr="Jurix Global, asesoría legal y financi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2011680" cy="909175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Plan Ruta Segura</a:t>
            </a:r>
            <a:endParaRPr lang="en-US" sz="4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5603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Asistencia legal para los socios de cooperativas de transporte: multas, impugnaciones y siniestros</a:t>
            </a:r>
            <a:endParaRPr lang="en-US" sz="1800" dirty="0"/>
          </a:p>
        </p:txBody>
      </p:sp>
      <p:sp>
        <p:nvSpPr>
          <p:cNvPr id="5" name="Bus círculo"/>
          <p:cNvSpPr/>
          <p:nvPr/>
        </p:nvSpPr>
        <p:spPr>
          <a:xfrm>
            <a:off x="6263640" y="1234440"/>
            <a:ext cx="2377440" cy="23774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Bus icono" descr="B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677" y="1757477"/>
            <a:ext cx="1331366" cy="13313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Una citación de tránsito tiene solo 3 días de vida</a:t>
            </a:r>
            <a:endParaRPr lang="en-US" sz="2800" dirty="0"/>
          </a:p>
        </p:txBody>
      </p:sp>
      <p:sp>
        <p:nvSpPr>
          <p:cNvPr id="3" name="Dato 1"/>
          <p:cNvSpPr/>
          <p:nvPr/>
        </p:nvSpPr>
        <p:spPr>
          <a:xfrm>
            <a:off x="457200" y="1234440"/>
            <a:ext cx="260604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ato 1 cifra"/>
          <p:cNvSpPr txBox="1"/>
          <p:nvPr/>
        </p:nvSpPr>
        <p:spPr>
          <a:xfrm>
            <a:off x="68580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días</a:t>
            </a:r>
            <a:endParaRPr lang="en-US" sz="3400" dirty="0"/>
          </a:p>
        </p:txBody>
      </p:sp>
      <p:sp>
        <p:nvSpPr>
          <p:cNvPr id="5" name="Dato 1 texto"/>
          <p:cNvSpPr txBox="1"/>
          <p:nvPr/>
        </p:nvSpPr>
        <p:spPr>
          <a:xfrm>
            <a:off x="685800" y="22860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para impugnar una citación. Después queda aceptada y se cobra como título de crédito (art. 644 COIP).</a:t>
            </a:r>
            <a:endParaRPr lang="en-US" sz="1400" dirty="0"/>
          </a:p>
        </p:txBody>
      </p:sp>
      <p:sp>
        <p:nvSpPr>
          <p:cNvPr id="6" name="Dato 2"/>
          <p:cNvSpPr/>
          <p:nvPr/>
        </p:nvSpPr>
        <p:spPr>
          <a:xfrm>
            <a:off x="3246120" y="1234440"/>
            <a:ext cx="260604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Dato 2 cifra"/>
          <p:cNvSpPr txBox="1"/>
          <p:nvPr/>
        </p:nvSpPr>
        <p:spPr>
          <a:xfrm>
            <a:off x="347472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145</a:t>
            </a:r>
            <a:endParaRPr lang="en-US" sz="3400" dirty="0"/>
          </a:p>
        </p:txBody>
      </p:sp>
      <p:sp>
        <p:nvSpPr>
          <p:cNvPr id="8" name="Dato 2 texto"/>
          <p:cNvSpPr txBox="1"/>
          <p:nvPr/>
        </p:nvSpPr>
        <p:spPr>
          <a:xfrm>
            <a:off x="3474720" y="22860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cuesta en 2026 una multa grave, el 30 % del salario básico de USD 482. Una muy grave, unos USD 241.</a:t>
            </a:r>
            <a:endParaRPr lang="en-US" sz="1400" dirty="0"/>
          </a:p>
        </p:txBody>
      </p:sp>
      <p:sp>
        <p:nvSpPr>
          <p:cNvPr id="9" name="Dato 3"/>
          <p:cNvSpPr/>
          <p:nvPr/>
        </p:nvSpPr>
        <p:spPr>
          <a:xfrm>
            <a:off x="6035040" y="1234440"/>
            <a:ext cx="260604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Dato 3 cifra"/>
          <p:cNvSpPr txBox="1"/>
          <p:nvPr/>
        </p:nvSpPr>
        <p:spPr>
          <a:xfrm>
            <a:off x="626364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dueño</a:t>
            </a:r>
            <a:endParaRPr lang="en-US" sz="3400" dirty="0"/>
          </a:p>
        </p:txBody>
      </p:sp>
      <p:sp>
        <p:nvSpPr>
          <p:cNvPr id="11" name="Dato 3 texto"/>
          <p:cNvSpPr txBox="1"/>
          <p:nvPr/>
        </p:nvSpPr>
        <p:spPr>
          <a:xfrm>
            <a:off x="6263640" y="22860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responde solidariamente por el pago de la multa, aunque no haya estado al volante (art. 386 COIP).</a:t>
            </a:r>
            <a:endParaRPr lang="en-US" sz="1400" dirty="0"/>
          </a:p>
        </p:txBody>
      </p:sp>
      <p:sp>
        <p:nvSpPr>
          <p:cNvPr id="12" name="Conclusión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La mayoría de los dueños se entera cuando ya no hay nada que hacer: al matricular o al ir a liberar el bus.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Y cuando hay un siniestro, el bus deja de trabajar</a:t>
            </a:r>
            <a:endParaRPr lang="en-US" sz="2800" dirty="0"/>
          </a:p>
        </p:txBody>
      </p:sp>
      <p:sp>
        <p:nvSpPr>
          <p:cNvPr id="3" name="El bus queda retenido círculo"/>
          <p:cNvSpPr/>
          <p:nvPr/>
        </p:nvSpPr>
        <p:spPr>
          <a:xfrm>
            <a:off x="457200" y="12344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El bus queda retenido icono" descr="El bus queda reteni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134" y="1395374"/>
            <a:ext cx="409651" cy="409651"/>
          </a:xfrm>
          <a:prstGeom prst="rect">
            <a:avLst/>
          </a:prstGeom>
        </p:spPr>
      </p:pic>
      <p:sp>
        <p:nvSpPr>
          <p:cNvPr id="5" name="El bus queda retenido título"/>
          <p:cNvSpPr txBox="1"/>
          <p:nvPr/>
        </p:nvSpPr>
        <p:spPr>
          <a:xfrm>
            <a:off x="1417320" y="12527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El bus queda retenido</a:t>
            </a:r>
            <a:endParaRPr lang="en-US" sz="1700" dirty="0"/>
          </a:p>
        </p:txBody>
      </p:sp>
      <p:sp>
        <p:nvSpPr>
          <p:cNvPr id="6" name="El bus queda retenido texto"/>
          <p:cNvSpPr txBox="1"/>
          <p:nvPr/>
        </p:nvSpPr>
        <p:spPr>
          <a:xfrm>
            <a:off x="1417320" y="16184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día parado es un día sin ingresos para el socio.</a:t>
            </a:r>
            <a:endParaRPr lang="en-US" sz="1400" dirty="0"/>
          </a:p>
        </p:txBody>
      </p:sp>
      <p:sp>
        <p:nvSpPr>
          <p:cNvPr id="7" name="El dueño debe comparecer círculo"/>
          <p:cNvSpPr/>
          <p:nvPr/>
        </p:nvSpPr>
        <p:spPr>
          <a:xfrm>
            <a:off x="457200" y="23317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El dueño debe comparecer icono" descr="El dueño debe comparec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34" y="2492654"/>
            <a:ext cx="409651" cy="409651"/>
          </a:xfrm>
          <a:prstGeom prst="rect">
            <a:avLst/>
          </a:prstGeom>
        </p:spPr>
      </p:pic>
      <p:sp>
        <p:nvSpPr>
          <p:cNvPr id="9" name="El dueño debe comparecer título"/>
          <p:cNvSpPr txBox="1"/>
          <p:nvPr/>
        </p:nvSpPr>
        <p:spPr>
          <a:xfrm>
            <a:off x="1417320" y="2350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El dueño debe comparecer</a:t>
            </a:r>
            <a:endParaRPr lang="en-US" sz="1700" dirty="0"/>
          </a:p>
        </p:txBody>
      </p:sp>
      <p:sp>
        <p:nvSpPr>
          <p:cNvPr id="10" name="El dueño debe comparecer texto"/>
          <p:cNvSpPr txBox="1"/>
          <p:nvPr/>
        </p:nvSpPr>
        <p:spPr>
          <a:xfrm>
            <a:off x="1417320" y="27157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Ante la Fiscalía, para pedir la devolución de su vehículo.</a:t>
            </a:r>
            <a:endParaRPr lang="en-US" sz="1400" dirty="0"/>
          </a:p>
        </p:txBody>
      </p:sp>
      <p:sp>
        <p:nvSpPr>
          <p:cNvPr id="11" name="El dueño responde en lo civil círculo"/>
          <p:cNvSpPr/>
          <p:nvPr/>
        </p:nvSpPr>
        <p:spPr>
          <a:xfrm>
            <a:off x="457200" y="34290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El dueño responde en lo civil icono" descr="El dueño responde en lo civi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" y="3589934"/>
            <a:ext cx="409651" cy="409651"/>
          </a:xfrm>
          <a:prstGeom prst="rect">
            <a:avLst/>
          </a:prstGeom>
        </p:spPr>
      </p:pic>
      <p:sp>
        <p:nvSpPr>
          <p:cNvPr id="13" name="El dueño responde en lo civil título"/>
          <p:cNvSpPr txBox="1"/>
          <p:nvPr/>
        </p:nvSpPr>
        <p:spPr>
          <a:xfrm>
            <a:off x="1417320" y="34472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El dueño responde en lo civil</a:t>
            </a:r>
            <a:endParaRPr lang="en-US" sz="1700" dirty="0"/>
          </a:p>
        </p:txBody>
      </p:sp>
      <p:sp>
        <p:nvSpPr>
          <p:cNvPr id="14" name="El dueño responde en lo civil texto"/>
          <p:cNvSpPr txBox="1"/>
          <p:nvPr/>
        </p:nvSpPr>
        <p:spPr>
          <a:xfrm>
            <a:off x="1417320" y="38130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forma solidaria por los daños, aunque no conducía (arts. 379 y 380 COIP).</a:t>
            </a:r>
            <a:endParaRPr lang="en-US" sz="1400" dirty="0"/>
          </a:p>
        </p:txBody>
      </p:sp>
      <p:sp>
        <p:nvSpPr>
          <p:cNvPr id="15" name="Panel 24 horas"/>
          <p:cNvSpPr/>
          <p:nvPr/>
        </p:nvSpPr>
        <p:spPr>
          <a:xfrm>
            <a:off x="5303520" y="1234440"/>
            <a:ext cx="3383280" cy="310896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Panel título"/>
          <p:cNvSpPr txBox="1"/>
          <p:nvPr/>
        </p:nvSpPr>
        <p:spPr>
          <a:xfrm>
            <a:off x="5577840" y="15087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primeras 24 horas deciden el caso</a:t>
            </a:r>
            <a:endParaRPr lang="en-US" sz="2200" dirty="0"/>
          </a:p>
        </p:txBody>
      </p:sp>
      <p:sp>
        <p:nvSpPr>
          <p:cNvPr id="17" name="Panel texto"/>
          <p:cNvSpPr txBox="1"/>
          <p:nvPr/>
        </p:nvSpPr>
        <p:spPr>
          <a:xfrm>
            <a:off x="5577840" y="26060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La flagrancia, las versiones, el peritaje y la posibilidad de un acuerdo se juegan el primer día. Sin un abogado que llegue a tiempo, se pierde tiempo y dinero.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Plan Ruta Segura: lo que recibe cada socio</a:t>
            </a:r>
            <a:endParaRPr lang="en-US" sz="2800" dirty="0"/>
          </a:p>
        </p:txBody>
      </p:sp>
      <p:sp>
        <p:nvSpPr>
          <p:cNvPr id="3" name="Monitoreo de multas tarjeta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onitoreo de multas círculo"/>
          <p:cNvSpPr/>
          <p:nvPr/>
        </p:nvSpPr>
        <p:spPr>
          <a:xfrm>
            <a:off x="685800" y="155448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Monitoreo de multas icono" descr="Monitoreo de mult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793" y="1725473"/>
            <a:ext cx="435254" cy="435254"/>
          </a:xfrm>
          <a:prstGeom prst="rect">
            <a:avLst/>
          </a:prstGeom>
        </p:spPr>
      </p:pic>
      <p:sp>
        <p:nvSpPr>
          <p:cNvPr id="6" name="Monitoreo de multas título"/>
          <p:cNvSpPr txBox="1"/>
          <p:nvPr/>
        </p:nvSpPr>
        <p:spPr>
          <a:xfrm>
            <a:off x="1645920" y="1417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Monitoreo de multas</a:t>
            </a:r>
            <a:endParaRPr lang="en-US" sz="1600" dirty="0"/>
          </a:p>
        </p:txBody>
      </p:sp>
      <p:sp>
        <p:nvSpPr>
          <p:cNvPr id="7" name="Monitoreo de multas texto"/>
          <p:cNvSpPr txBox="1"/>
          <p:nvPr/>
        </p:nvSpPr>
        <p:spPr>
          <a:xfrm>
            <a:off x="1645920" y="18288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Revisamos cada mes las multas de todas las placas y avisamos a tiempo al socio.</a:t>
            </a:r>
            <a:endParaRPr lang="en-US" sz="1400" dirty="0"/>
          </a:p>
        </p:txBody>
      </p:sp>
      <p:sp>
        <p:nvSpPr>
          <p:cNvPr id="8" name="Impugnación incluida tarjeta"/>
          <p:cNvSpPr/>
          <p:nvPr/>
        </p:nvSpPr>
        <p:spPr>
          <a:xfrm>
            <a:off x="4663440" y="11887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mpugnación incluida círculo"/>
          <p:cNvSpPr/>
          <p:nvPr/>
        </p:nvSpPr>
        <p:spPr>
          <a:xfrm>
            <a:off x="4892040" y="155448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pugnación incluida icono" descr="Impugnación incluid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033" y="1725473"/>
            <a:ext cx="435254" cy="435254"/>
          </a:xfrm>
          <a:prstGeom prst="rect">
            <a:avLst/>
          </a:prstGeom>
        </p:spPr>
      </p:pic>
      <p:sp>
        <p:nvSpPr>
          <p:cNvPr id="11" name="Impugnación incluida título"/>
          <p:cNvSpPr txBox="1"/>
          <p:nvPr/>
        </p:nvSpPr>
        <p:spPr>
          <a:xfrm>
            <a:off x="5852160" y="1417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Impugnación incluida</a:t>
            </a:r>
            <a:endParaRPr lang="en-US" sz="1600" dirty="0"/>
          </a:p>
        </p:txBody>
      </p:sp>
      <p:sp>
        <p:nvSpPr>
          <p:cNvPr id="12" name="Impugnación incluida texto"/>
          <p:cNvSpPr txBox="1"/>
          <p:nvPr/>
        </p:nvSpPr>
        <p:spPr>
          <a:xfrm>
            <a:off x="5852160" y="18288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Una impugnación por bus al año, garantizada. La defendemos y el juez decide.</a:t>
            </a:r>
            <a:endParaRPr lang="en-US" sz="1400" dirty="0"/>
          </a:p>
        </p:txBody>
      </p:sp>
      <p:sp>
        <p:nvSpPr>
          <p:cNvPr id="13" name="Respuesta ante siniestros tarjeta"/>
          <p:cNvSpPr/>
          <p:nvPr/>
        </p:nvSpPr>
        <p:spPr>
          <a:xfrm>
            <a:off x="457200" y="288036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espuesta ante siniestros círculo"/>
          <p:cNvSpPr/>
          <p:nvPr/>
        </p:nvSpPr>
        <p:spPr>
          <a:xfrm>
            <a:off x="685800" y="32461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Respuesta ante siniestros icono" descr="Respuesta ante siniestr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3" y="3417113"/>
            <a:ext cx="435254" cy="435254"/>
          </a:xfrm>
          <a:prstGeom prst="rect">
            <a:avLst/>
          </a:prstGeom>
        </p:spPr>
      </p:pic>
      <p:sp>
        <p:nvSpPr>
          <p:cNvPr id="16" name="Respuesta ante siniestros título"/>
          <p:cNvSpPr txBox="1"/>
          <p:nvPr/>
        </p:nvSpPr>
        <p:spPr>
          <a:xfrm>
            <a:off x="1645920" y="3108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Respuesta ante siniestros</a:t>
            </a:r>
            <a:endParaRPr lang="en-US" sz="1600" dirty="0"/>
          </a:p>
        </p:txBody>
      </p:sp>
      <p:sp>
        <p:nvSpPr>
          <p:cNvPr id="17" name="Respuesta ante siniestros texto"/>
          <p:cNvSpPr txBox="1"/>
          <p:nvPr/>
        </p:nvSpPr>
        <p:spPr>
          <a:xfrm>
            <a:off x="1645920" y="35204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Abogado en la flagrancia y en la Fiscalía, y pedido de devolución del vehículo.</a:t>
            </a:r>
            <a:endParaRPr lang="en-US" sz="1400" dirty="0"/>
          </a:p>
        </p:txBody>
      </p:sp>
      <p:sp>
        <p:nvSpPr>
          <p:cNvPr id="18" name="Reporte a la cooperativa tarjeta"/>
          <p:cNvSpPr/>
          <p:nvPr/>
        </p:nvSpPr>
        <p:spPr>
          <a:xfrm>
            <a:off x="4663440" y="288036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Reporte a la cooperativa círculo"/>
          <p:cNvSpPr/>
          <p:nvPr/>
        </p:nvSpPr>
        <p:spPr>
          <a:xfrm>
            <a:off x="4892040" y="32461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Reporte a la cooperativa icono" descr="Reporte a la cooperativ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033" y="3417113"/>
            <a:ext cx="435254" cy="435254"/>
          </a:xfrm>
          <a:prstGeom prst="rect">
            <a:avLst/>
          </a:prstGeom>
        </p:spPr>
      </p:pic>
      <p:sp>
        <p:nvSpPr>
          <p:cNvPr id="21" name="Reporte a la cooperativa título"/>
          <p:cNvSpPr txBox="1"/>
          <p:nvPr/>
        </p:nvSpPr>
        <p:spPr>
          <a:xfrm>
            <a:off x="5852160" y="3108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Reporte a la cooperativa</a:t>
            </a:r>
            <a:endParaRPr lang="en-US" sz="1600" dirty="0"/>
          </a:p>
        </p:txBody>
      </p:sp>
      <p:sp>
        <p:nvSpPr>
          <p:cNvPr id="22" name="Reporte a la cooperativa texto"/>
          <p:cNvSpPr txBox="1"/>
          <p:nvPr/>
        </p:nvSpPr>
        <p:spPr>
          <a:xfrm>
            <a:off x="5852160" y="35204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mes, las multas por placa y por chofer para el gerente y el consejo.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Así funciona una impugnación con el plan</a:t>
            </a:r>
            <a:endParaRPr lang="en-US" sz="2800" dirty="0"/>
          </a:p>
        </p:txBody>
      </p:sp>
      <p:sp>
        <p:nvSpPr>
          <p:cNvPr id="3" name="Paso 1 círculo"/>
          <p:cNvSpPr/>
          <p:nvPr/>
        </p:nvSpPr>
        <p:spPr>
          <a:xfrm>
            <a:off x="1005840" y="13258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Paso 1 icono" descr="Paso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950" y="1516990"/>
            <a:ext cx="486461" cy="486461"/>
          </a:xfrm>
          <a:prstGeom prst="rect">
            <a:avLst/>
          </a:prstGeom>
        </p:spPr>
      </p:pic>
      <p:sp>
        <p:nvSpPr>
          <p:cNvPr id="5" name="Flecha 1"/>
          <p:cNvSpPr/>
          <p:nvPr/>
        </p:nvSpPr>
        <p:spPr>
          <a:xfrm>
            <a:off x="2011680" y="1760220"/>
            <a:ext cx="9601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Paso 1 título"/>
          <p:cNvSpPr txBox="1"/>
          <p:nvPr/>
        </p:nvSpPr>
        <p:spPr>
          <a:xfrm>
            <a:off x="457200" y="24231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1. Recibimos</a:t>
            </a:r>
            <a:endParaRPr lang="en-US" sz="1700" dirty="0"/>
          </a:p>
        </p:txBody>
      </p:sp>
      <p:sp>
        <p:nvSpPr>
          <p:cNvPr id="7" name="Paso 1 texto"/>
          <p:cNvSpPr txBox="1"/>
          <p:nvPr/>
        </p:nvSpPr>
        <p:spPr>
          <a:xfrm>
            <a:off x="457200" y="28803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chofer o el socio manda la foto por WhatsApp dentro de 24 horas.</a:t>
            </a:r>
            <a:endParaRPr lang="en-US" sz="1400" dirty="0"/>
          </a:p>
        </p:txBody>
      </p:sp>
      <p:sp>
        <p:nvSpPr>
          <p:cNvPr id="8" name="Paso 2 círculo"/>
          <p:cNvSpPr/>
          <p:nvPr/>
        </p:nvSpPr>
        <p:spPr>
          <a:xfrm>
            <a:off x="3108960" y="13258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Paso 2 icono" descr="Paso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070" y="1516990"/>
            <a:ext cx="486461" cy="486461"/>
          </a:xfrm>
          <a:prstGeom prst="rect">
            <a:avLst/>
          </a:prstGeom>
        </p:spPr>
      </p:pic>
      <p:sp>
        <p:nvSpPr>
          <p:cNvPr id="10" name="Flecha 2"/>
          <p:cNvSpPr/>
          <p:nvPr/>
        </p:nvSpPr>
        <p:spPr>
          <a:xfrm>
            <a:off x="4114800" y="1760220"/>
            <a:ext cx="9601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Paso 2 título"/>
          <p:cNvSpPr txBox="1"/>
          <p:nvPr/>
        </p:nvSpPr>
        <p:spPr>
          <a:xfrm>
            <a:off x="2560320" y="24231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2. Preparamos</a:t>
            </a:r>
            <a:endParaRPr lang="en-US" sz="1700" dirty="0"/>
          </a:p>
        </p:txBody>
      </p:sp>
      <p:sp>
        <p:nvSpPr>
          <p:cNvPr id="12" name="Paso 2 texto"/>
          <p:cNvSpPr txBox="1"/>
          <p:nvPr/>
        </p:nvSpPr>
        <p:spPr>
          <a:xfrm>
            <a:off x="2560320" y="28803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Armamos la defensa con las pruebas y le explicamos la estrategia.</a:t>
            </a:r>
            <a:endParaRPr lang="en-US" sz="1400" dirty="0"/>
          </a:p>
        </p:txBody>
      </p:sp>
      <p:sp>
        <p:nvSpPr>
          <p:cNvPr id="13" name="Paso 3 círculo"/>
          <p:cNvSpPr/>
          <p:nvPr/>
        </p:nvSpPr>
        <p:spPr>
          <a:xfrm>
            <a:off x="5212080" y="13258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Paso 3 icono" descr="Paso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190" y="1516990"/>
            <a:ext cx="486461" cy="486461"/>
          </a:xfrm>
          <a:prstGeom prst="rect">
            <a:avLst/>
          </a:prstGeom>
        </p:spPr>
      </p:pic>
      <p:sp>
        <p:nvSpPr>
          <p:cNvPr id="15" name="Flecha 3"/>
          <p:cNvSpPr/>
          <p:nvPr/>
        </p:nvSpPr>
        <p:spPr>
          <a:xfrm>
            <a:off x="6217920" y="1760220"/>
            <a:ext cx="9601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Paso 3 título"/>
          <p:cNvSpPr txBox="1"/>
          <p:nvPr/>
        </p:nvSpPr>
        <p:spPr>
          <a:xfrm>
            <a:off x="4663440" y="24231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3. Impugnamos</a:t>
            </a:r>
            <a:endParaRPr lang="en-US" sz="1700" dirty="0"/>
          </a:p>
        </p:txBody>
      </p:sp>
      <p:sp>
        <p:nvSpPr>
          <p:cNvPr id="17" name="Paso 3 texto"/>
          <p:cNvSpPr txBox="1"/>
          <p:nvPr/>
        </p:nvSpPr>
        <p:spPr>
          <a:xfrm>
            <a:off x="4663440" y="28803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Presentamos el escrito dentro del plazo y vamos a la audiencia.</a:t>
            </a:r>
            <a:endParaRPr lang="en-US" sz="1400" dirty="0"/>
          </a:p>
        </p:txBody>
      </p:sp>
      <p:sp>
        <p:nvSpPr>
          <p:cNvPr id="18" name="Paso 4 círculo"/>
          <p:cNvSpPr/>
          <p:nvPr/>
        </p:nvSpPr>
        <p:spPr>
          <a:xfrm>
            <a:off x="7315200" y="13258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Paso 4 icono" descr="Paso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6310" y="1516990"/>
            <a:ext cx="486461" cy="486461"/>
          </a:xfrm>
          <a:prstGeom prst="rect">
            <a:avLst/>
          </a:prstGeom>
        </p:spPr>
      </p:pic>
      <p:sp>
        <p:nvSpPr>
          <p:cNvPr id="20" name="Paso 4 título"/>
          <p:cNvSpPr txBox="1"/>
          <p:nvPr/>
        </p:nvSpPr>
        <p:spPr>
          <a:xfrm>
            <a:off x="6766560" y="24231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4. Reportamos</a:t>
            </a:r>
            <a:endParaRPr lang="en-US" sz="1700" dirty="0"/>
          </a:p>
        </p:txBody>
      </p:sp>
      <p:sp>
        <p:nvSpPr>
          <p:cNvPr id="21" name="Paso 4 texto"/>
          <p:cNvSpPr txBox="1"/>
          <p:nvPr/>
        </p:nvSpPr>
        <p:spPr>
          <a:xfrm>
            <a:off x="6766560" y="28803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Resultado al socio y reporte mensual a la cooperativa.</a:t>
            </a:r>
            <a:endParaRPr lang="en-US" sz="1400" dirty="0"/>
          </a:p>
        </p:txBody>
      </p:sp>
      <p:sp>
        <p:nvSpPr>
          <p:cNvPr id="22" name="Conclusión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Sin aviso a tiempo no hay impugnación posible: por eso el plan empieza con el monitoreo de todas las placas.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Cada mes, la cooperativa sabe qué pasa con su flota</a:t>
            </a:r>
            <a:endParaRPr lang="en-US" sz="2800" dirty="0"/>
          </a:p>
        </p:txBody>
      </p:sp>
      <p:sp>
        <p:nvSpPr>
          <p:cNvPr id="3" name="Reporte encabezado"/>
          <p:cNvSpPr txBox="1"/>
          <p:nvPr/>
        </p:nvSpPr>
        <p:spPr>
          <a:xfrm>
            <a:off x="457200" y="1188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El reporte mensual incluye</a:t>
            </a:r>
            <a:endParaRPr lang="en-US" sz="1800" dirty="0"/>
          </a:p>
        </p:txBody>
      </p:sp>
      <p:sp>
        <p:nvSpPr>
          <p:cNvPr id="4" name="Ítem 1 círculo"/>
          <p:cNvSpPr/>
          <p:nvPr/>
        </p:nvSpPr>
        <p:spPr>
          <a:xfrm>
            <a:off x="457200" y="17373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Ítem 1 icono" descr="Ítem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667" y="1817827"/>
            <a:ext cx="204826" cy="204826"/>
          </a:xfrm>
          <a:prstGeom prst="rect">
            <a:avLst/>
          </a:prstGeom>
        </p:spPr>
      </p:pic>
      <p:sp>
        <p:nvSpPr>
          <p:cNvPr id="6" name="Ítem 1"/>
          <p:cNvSpPr txBox="1"/>
          <p:nvPr/>
        </p:nvSpPr>
        <p:spPr>
          <a:xfrm>
            <a:off x="1005840" y="17647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Multas nuevas por placa y su valor</a:t>
            </a:r>
            <a:endParaRPr lang="en-US" sz="1500" dirty="0"/>
          </a:p>
        </p:txBody>
      </p:sp>
      <p:sp>
        <p:nvSpPr>
          <p:cNvPr id="7" name="Ítem 2 círculo"/>
          <p:cNvSpPr/>
          <p:nvPr/>
        </p:nvSpPr>
        <p:spPr>
          <a:xfrm>
            <a:off x="457200" y="22860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Ítem 2 icono" descr="Ítem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2366467"/>
            <a:ext cx="204826" cy="204826"/>
          </a:xfrm>
          <a:prstGeom prst="rect">
            <a:avLst/>
          </a:prstGeom>
        </p:spPr>
      </p:pic>
      <p:sp>
        <p:nvSpPr>
          <p:cNvPr id="9" name="Ítem 2"/>
          <p:cNvSpPr txBox="1"/>
          <p:nvPr/>
        </p:nvSpPr>
        <p:spPr>
          <a:xfrm>
            <a:off x="1005840" y="2313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Plazos de impugnación en curso</a:t>
            </a:r>
            <a:endParaRPr lang="en-US" sz="1500" dirty="0"/>
          </a:p>
        </p:txBody>
      </p:sp>
      <p:sp>
        <p:nvSpPr>
          <p:cNvPr id="10" name="Ítem 3 círculo"/>
          <p:cNvSpPr/>
          <p:nvPr/>
        </p:nvSpPr>
        <p:spPr>
          <a:xfrm>
            <a:off x="457200" y="28346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Ítem 3 icono" descr="Ítem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" y="2915107"/>
            <a:ext cx="204826" cy="204826"/>
          </a:xfrm>
          <a:prstGeom prst="rect">
            <a:avLst/>
          </a:prstGeom>
        </p:spPr>
      </p:pic>
      <p:sp>
        <p:nvSpPr>
          <p:cNvPr id="12" name="Ítem 3"/>
          <p:cNvSpPr txBox="1"/>
          <p:nvPr/>
        </p:nvSpPr>
        <p:spPr>
          <a:xfrm>
            <a:off x="1005840" y="28620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Chofer y unidad que generan más multas</a:t>
            </a:r>
            <a:endParaRPr lang="en-US" sz="1500" dirty="0"/>
          </a:p>
        </p:txBody>
      </p:sp>
      <p:sp>
        <p:nvSpPr>
          <p:cNvPr id="13" name="Ítem 4 círculo"/>
          <p:cNvSpPr/>
          <p:nvPr/>
        </p:nvSpPr>
        <p:spPr>
          <a:xfrm>
            <a:off x="457200" y="33832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Ítem 4 icono" descr="Ítem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" y="3463747"/>
            <a:ext cx="204826" cy="204826"/>
          </a:xfrm>
          <a:prstGeom prst="rect">
            <a:avLst/>
          </a:prstGeom>
        </p:spPr>
      </p:pic>
      <p:sp>
        <p:nvSpPr>
          <p:cNvPr id="15" name="Ítem 4"/>
          <p:cNvSpPr txBox="1"/>
          <p:nvPr/>
        </p:nvSpPr>
        <p:spPr>
          <a:xfrm>
            <a:off x="1005840" y="34107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Resultado de cada impugnación</a:t>
            </a:r>
            <a:endParaRPr lang="en-US" sz="1500" dirty="0"/>
          </a:p>
        </p:txBody>
      </p:sp>
      <p:sp>
        <p:nvSpPr>
          <p:cNvPr id="16" name="Ítem 5 círculo"/>
          <p:cNvSpPr/>
          <p:nvPr/>
        </p:nvSpPr>
        <p:spPr>
          <a:xfrm>
            <a:off x="457200" y="39319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Ítem 5 icono" descr="Ítem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67" y="4012387"/>
            <a:ext cx="204826" cy="204826"/>
          </a:xfrm>
          <a:prstGeom prst="rect">
            <a:avLst/>
          </a:prstGeom>
        </p:spPr>
      </p:pic>
      <p:sp>
        <p:nvSpPr>
          <p:cNvPr id="18" name="Ítem 5"/>
          <p:cNvSpPr txBox="1"/>
          <p:nvPr/>
        </p:nvSpPr>
        <p:spPr>
          <a:xfrm>
            <a:off x="1005840" y="39593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Valores pendientes que bloquean la matrícula</a:t>
            </a:r>
            <a:endParaRPr lang="en-US" sz="1500" dirty="0"/>
          </a:p>
        </p:txBody>
      </p:sp>
      <p:sp>
        <p:nvSpPr>
          <p:cNvPr id="19" name="Panel información"/>
          <p:cNvSpPr/>
          <p:nvPr/>
        </p:nvSpPr>
        <p:spPr>
          <a:xfrm>
            <a:off x="5303520" y="1188720"/>
            <a:ext cx="338328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Reporte círculo"/>
          <p:cNvSpPr/>
          <p:nvPr/>
        </p:nvSpPr>
        <p:spPr>
          <a:xfrm>
            <a:off x="5623560" y="146304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1" name="Reporte icono" descr="Report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4611" y="1644091"/>
            <a:ext cx="460858" cy="460858"/>
          </a:xfrm>
          <a:prstGeom prst="rect">
            <a:avLst/>
          </a:prstGeom>
        </p:spPr>
      </p:pic>
      <p:sp>
        <p:nvSpPr>
          <p:cNvPr id="22" name="Panel título"/>
          <p:cNvSpPr txBox="1"/>
          <p:nvPr/>
        </p:nvSpPr>
        <p:spPr>
          <a:xfrm>
            <a:off x="5623560" y="2468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para decidir</a:t>
            </a:r>
            <a:endParaRPr lang="en-US" sz="1800" dirty="0"/>
          </a:p>
        </p:txBody>
      </p:sp>
      <p:sp>
        <p:nvSpPr>
          <p:cNvPr id="23" name="Panel texto"/>
          <p:cNvSpPr txBox="1"/>
          <p:nvPr/>
        </p:nvSpPr>
        <p:spPr>
          <a:xfrm>
            <a:off x="5623560" y="29718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Qué chofer capacitar, qué unidad revisar y qué multa conviene pagar a tiempo, antes de que bloquee la matrícula.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Una inversión pequeña para cada socio</a:t>
            </a:r>
            <a:endParaRPr lang="en-US" sz="2800" dirty="0"/>
          </a:p>
        </p:txBody>
      </p:sp>
      <p:sp>
        <p:nvSpPr>
          <p:cNvPr id="3" name="Precio 1"/>
          <p:cNvSpPr/>
          <p:nvPr/>
        </p:nvSpPr>
        <p:spPr>
          <a:xfrm>
            <a:off x="457200" y="118872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ecio 1 cifra"/>
          <p:cNvSpPr txBox="1"/>
          <p:nvPr/>
        </p:nvSpPr>
        <p:spPr>
          <a:xfrm>
            <a:off x="685800" y="1371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0</a:t>
            </a:r>
            <a:endParaRPr lang="en-US" sz="3400" dirty="0"/>
          </a:p>
        </p:txBody>
      </p:sp>
      <p:sp>
        <p:nvSpPr>
          <p:cNvPr id="5" name="Precio 1 unidad"/>
          <p:cNvSpPr txBox="1"/>
          <p:nvPr/>
        </p:nvSpPr>
        <p:spPr>
          <a:xfrm>
            <a:off x="68580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para la caja</a:t>
            </a:r>
            <a:endParaRPr lang="en-US" sz="1500" dirty="0"/>
          </a:p>
        </p:txBody>
      </p:sp>
      <p:sp>
        <p:nvSpPr>
          <p:cNvPr id="6" name="Precio 1 texto"/>
          <p:cNvSpPr txBox="1"/>
          <p:nvPr/>
        </p:nvSpPr>
        <p:spPr>
          <a:xfrm>
            <a:off x="685800" y="2468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cooperativa solo recauda la cuota junto con su cuota administrativa.</a:t>
            </a:r>
            <a:endParaRPr lang="en-US" sz="1400" dirty="0"/>
          </a:p>
        </p:txBody>
      </p:sp>
      <p:sp>
        <p:nvSpPr>
          <p:cNvPr id="7" name="Precio 2"/>
          <p:cNvSpPr/>
          <p:nvPr/>
        </p:nvSpPr>
        <p:spPr>
          <a:xfrm>
            <a:off x="3246120" y="118872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Precio 2 cifra"/>
          <p:cNvSpPr txBox="1"/>
          <p:nvPr/>
        </p:nvSpPr>
        <p:spPr>
          <a:xfrm>
            <a:off x="3474720" y="1371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8FB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10</a:t>
            </a:r>
            <a:endParaRPr lang="en-US" sz="3400" dirty="0"/>
          </a:p>
        </p:txBody>
      </p:sp>
      <p:sp>
        <p:nvSpPr>
          <p:cNvPr id="9" name="Precio 2 unidad"/>
          <p:cNvSpPr txBox="1"/>
          <p:nvPr/>
        </p:nvSpPr>
        <p:spPr>
          <a:xfrm>
            <a:off x="347472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al mes por bus</a:t>
            </a:r>
            <a:endParaRPr lang="en-US" sz="1500" dirty="0"/>
          </a:p>
        </p:txBody>
      </p:sp>
      <p:sp>
        <p:nvSpPr>
          <p:cNvPr id="10" name="Precio 2 texto"/>
          <p:cNvSpPr txBox="1"/>
          <p:nvPr/>
        </p:nvSpPr>
        <p:spPr>
          <a:xfrm>
            <a:off x="3474720" y="2468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Monitoreo de multas, una impugnación garantizada al año y respuesta ante siniestros.</a:t>
            </a:r>
            <a:endParaRPr lang="en-US" sz="1400" dirty="0"/>
          </a:p>
        </p:txBody>
      </p:sp>
      <p:sp>
        <p:nvSpPr>
          <p:cNvPr id="11" name="Precio 3"/>
          <p:cNvSpPr/>
          <p:nvPr/>
        </p:nvSpPr>
        <p:spPr>
          <a:xfrm>
            <a:off x="6035040" y="118872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recio 3 cifra"/>
          <p:cNvSpPr txBox="1"/>
          <p:nvPr/>
        </p:nvSpPr>
        <p:spPr>
          <a:xfrm>
            <a:off x="6263640" y="1371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10 %</a:t>
            </a:r>
            <a:endParaRPr lang="en-US" sz="3400" dirty="0"/>
          </a:p>
        </p:txBody>
      </p:sp>
      <p:sp>
        <p:nvSpPr>
          <p:cNvPr id="13" name="Precio 3 unidad"/>
          <p:cNvSpPr txBox="1"/>
          <p:nvPr/>
        </p:nvSpPr>
        <p:spPr>
          <a:xfrm>
            <a:off x="626364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 descuento</a:t>
            </a:r>
            <a:endParaRPr lang="en-US" sz="1500" dirty="0"/>
          </a:p>
        </p:txBody>
      </p:sp>
      <p:sp>
        <p:nvSpPr>
          <p:cNvPr id="14" name="Precio 3 texto"/>
          <p:cNvSpPr txBox="1"/>
          <p:nvPr/>
        </p:nvSpPr>
        <p:spPr>
          <a:xfrm>
            <a:off x="6263640" y="2468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Pagando el año completo por adelantado.</a:t>
            </a:r>
            <a:endParaRPr lang="en-US" sz="1400" dirty="0"/>
          </a:p>
        </p:txBody>
      </p:sp>
      <p:sp>
        <p:nvSpPr>
          <p:cNvPr id="15" name="Ejemplo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Ejemplo texto"/>
          <p:cNvSpPr txBox="1"/>
          <p:nvPr/>
        </p:nvSpPr>
        <p:spPr>
          <a:xfrm>
            <a:off x="731520" y="376732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Ejemplo: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cada socio invierte USD 10 al mes por su bus: unos USD 0,33 al día, casi lo mismo que un pasaje.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Tarifas preferenciales cuando más lo necesita</a:t>
            </a:r>
            <a:endParaRPr lang="en-US" sz="2800" dirty="0"/>
          </a:p>
        </p:txBody>
      </p:sp>
      <p:graphicFrame>
        <p:nvGraphicFramePr>
          <p:cNvPr id="9" name="Tabla de tarif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3949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normal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 del plan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Siniestro con lesionados (procedimiento directo)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2.500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14B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1.200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Siniestro con fallecidos (procedimiento directo)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2.500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14B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1.500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Siniestro solo con daños materiales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Según el caso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14B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300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Impugnación adicional (desde la segunda del año)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Según el caso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14B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A"/>
                    </a:solidFill>
                  </a:tcPr>
                </a:tc>
              </a:tr>
            </a:tbl>
          </a:graphicData>
        </a:graphic>
      </p:graphicFrame>
      <p:sp>
        <p:nvSpPr>
          <p:cNvPr id="4" name="Ahorro"/>
          <p:cNvSpPr/>
          <p:nvPr/>
        </p:nvSpPr>
        <p:spPr>
          <a:xfrm>
            <a:off x="6126480" y="1188720"/>
            <a:ext cx="2560320" cy="251460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Ahorro cifra"/>
          <p:cNvSpPr txBox="1"/>
          <p:nvPr/>
        </p:nvSpPr>
        <p:spPr>
          <a:xfrm>
            <a:off x="6355080" y="1417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8FB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52 %</a:t>
            </a:r>
            <a:endParaRPr lang="en-US" sz="4800" dirty="0"/>
          </a:p>
        </p:txBody>
      </p:sp>
      <p:sp>
        <p:nvSpPr>
          <p:cNvPr id="6" name="Ahorro texto"/>
          <p:cNvSpPr txBox="1"/>
          <p:nvPr/>
        </p:nvSpPr>
        <p:spPr>
          <a:xfrm>
            <a:off x="6355080" y="22860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menos en el honorario de un caso con lesionados.</a:t>
            </a:r>
            <a:endParaRPr lang="en-US" sz="1600" dirty="0"/>
          </a:p>
        </p:txBody>
      </p:sp>
      <p:sp>
        <p:nvSpPr>
          <p:cNvPr id="7" name="Nota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Los honorarios por caso se pueden pagar en cuotas. Precios sin IVA.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Reglas claras desde el primer día</a:t>
            </a:r>
            <a:endParaRPr lang="en-US" sz="2800" dirty="0"/>
          </a:p>
        </p:txBody>
      </p:sp>
      <p:sp>
        <p:nvSpPr>
          <p:cNvPr id="3" name="Condiciones del plan tarjeta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ndiciones del plan título"/>
          <p:cNvSpPr txBox="1"/>
          <p:nvPr/>
        </p:nvSpPr>
        <p:spPr>
          <a:xfrm>
            <a:off x="73152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Condiciones del plan</a:t>
            </a:r>
            <a:endParaRPr lang="en-US" sz="1800" dirty="0"/>
          </a:p>
        </p:txBody>
      </p:sp>
      <p:sp>
        <p:nvSpPr>
          <p:cNvPr id="5" name="Condiciones del plan marca 1"/>
          <p:cNvSpPr/>
          <p:nvPr/>
        </p:nvSpPr>
        <p:spPr>
          <a:xfrm>
            <a:off x="731520" y="1956816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diciones del plan icono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029968"/>
            <a:ext cx="182880" cy="182880"/>
          </a:xfrm>
          <a:prstGeom prst="rect">
            <a:avLst/>
          </a:prstGeom>
        </p:spPr>
      </p:pic>
      <p:sp>
        <p:nvSpPr>
          <p:cNvPr id="7" name="Condiciones del plan ítem 1"/>
          <p:cNvSpPr txBox="1"/>
          <p:nvPr/>
        </p:nvSpPr>
        <p:spPr>
          <a:xfrm>
            <a:off x="1234440" y="1920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Cobertura desde el día 31 de la afiliación</a:t>
            </a:r>
            <a:endParaRPr lang="en-US" sz="1400" dirty="0"/>
          </a:p>
        </p:txBody>
      </p:sp>
      <p:sp>
        <p:nvSpPr>
          <p:cNvPr id="8" name="Condiciones del plan marca 2"/>
          <p:cNvSpPr/>
          <p:nvPr/>
        </p:nvSpPr>
        <p:spPr>
          <a:xfrm>
            <a:off x="731520" y="257860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Condiciones del plan icono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651760"/>
            <a:ext cx="182880" cy="182880"/>
          </a:xfrm>
          <a:prstGeom prst="rect">
            <a:avLst/>
          </a:prstGeom>
        </p:spPr>
      </p:pic>
      <p:sp>
        <p:nvSpPr>
          <p:cNvPr id="10" name="Condiciones del plan ítem 2"/>
          <p:cNvSpPr txBox="1"/>
          <p:nvPr/>
        </p:nvSpPr>
        <p:spPr>
          <a:xfrm>
            <a:off x="1234440" y="25420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Para socios al día en sus pagos</a:t>
            </a:r>
            <a:endParaRPr lang="en-US" sz="1400" dirty="0"/>
          </a:p>
        </p:txBody>
      </p:sp>
      <p:sp>
        <p:nvSpPr>
          <p:cNvPr id="11" name="Condiciones del plan marca 3"/>
          <p:cNvSpPr/>
          <p:nvPr/>
        </p:nvSpPr>
        <p:spPr>
          <a:xfrm>
            <a:off x="731520" y="320040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2" name="Condiciones del plan icono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73552"/>
            <a:ext cx="182880" cy="182880"/>
          </a:xfrm>
          <a:prstGeom prst="rect">
            <a:avLst/>
          </a:prstGeom>
        </p:spPr>
      </p:pic>
      <p:sp>
        <p:nvSpPr>
          <p:cNvPr id="13" name="Condiciones del plan ítem 3"/>
          <p:cNvSpPr txBox="1"/>
          <p:nvPr/>
        </p:nvSpPr>
        <p:spPr>
          <a:xfrm>
            <a:off x="1234440" y="316382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Aviso de la citación dentro de 24 horas</a:t>
            </a:r>
            <a:endParaRPr lang="en-US" sz="1400" dirty="0"/>
          </a:p>
        </p:txBody>
      </p:sp>
      <p:sp>
        <p:nvSpPr>
          <p:cNvPr id="14" name="Condiciones del plan marca 4"/>
          <p:cNvSpPr/>
          <p:nvPr/>
        </p:nvSpPr>
        <p:spPr>
          <a:xfrm>
            <a:off x="731520" y="3822192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Condiciones del plan icono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895344"/>
            <a:ext cx="182880" cy="182880"/>
          </a:xfrm>
          <a:prstGeom prst="rect">
            <a:avLst/>
          </a:prstGeom>
        </p:spPr>
      </p:pic>
      <p:sp>
        <p:nvSpPr>
          <p:cNvPr id="16" name="Condiciones del plan ítem 4"/>
          <p:cNvSpPr txBox="1"/>
          <p:nvPr/>
        </p:nvSpPr>
        <p:spPr>
          <a:xfrm>
            <a:off x="1234440" y="378561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Contrato anual aprobado en asamblea</a:t>
            </a:r>
            <a:endParaRPr lang="en-US" sz="1400" dirty="0"/>
          </a:p>
        </p:txBody>
      </p:sp>
      <p:sp>
        <p:nvSpPr>
          <p:cNvPr id="17" name="Lo que el plan no incluye tarjeta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Lo que el plan no incluye título"/>
          <p:cNvSpPr txBox="1"/>
          <p:nvPr/>
        </p:nvSpPr>
        <p:spPr>
          <a:xfrm>
            <a:off x="493776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 que el plan no incluye</a:t>
            </a:r>
            <a:endParaRPr lang="en-US" sz="1800" dirty="0"/>
          </a:p>
        </p:txBody>
      </p:sp>
      <p:sp>
        <p:nvSpPr>
          <p:cNvPr id="19" name="Lo que el plan no incluye marca 1"/>
          <p:cNvSpPr/>
          <p:nvPr/>
        </p:nvSpPr>
        <p:spPr>
          <a:xfrm>
            <a:off x="4937760" y="1956816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Lo que el plan no incluye icono 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2029968"/>
            <a:ext cx="182880" cy="182880"/>
          </a:xfrm>
          <a:prstGeom prst="rect">
            <a:avLst/>
          </a:prstGeom>
        </p:spPr>
      </p:pic>
      <p:sp>
        <p:nvSpPr>
          <p:cNvPr id="21" name="Lo que el plan no incluye ítem 1"/>
          <p:cNvSpPr txBox="1"/>
          <p:nvPr/>
        </p:nvSpPr>
        <p:spPr>
          <a:xfrm>
            <a:off x="5440680" y="1920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pago de multas o indemnizaciones</a:t>
            </a:r>
            <a:endParaRPr lang="en-US" sz="1400" dirty="0"/>
          </a:p>
        </p:txBody>
      </p:sp>
      <p:sp>
        <p:nvSpPr>
          <p:cNvPr id="22" name="Lo que el plan no incluye marca 2"/>
          <p:cNvSpPr/>
          <p:nvPr/>
        </p:nvSpPr>
        <p:spPr>
          <a:xfrm>
            <a:off x="4937760" y="2578608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3" name="Lo que el plan no incluye icono 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2651760"/>
            <a:ext cx="182880" cy="182880"/>
          </a:xfrm>
          <a:prstGeom prst="rect">
            <a:avLst/>
          </a:prstGeom>
        </p:spPr>
      </p:pic>
      <p:sp>
        <p:nvSpPr>
          <p:cNvPr id="24" name="Lo que el plan no incluye ítem 2"/>
          <p:cNvSpPr txBox="1"/>
          <p:nvPr/>
        </p:nvSpPr>
        <p:spPr>
          <a:xfrm>
            <a:off x="5440680" y="25420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Peritajes privados ni cauciones</a:t>
            </a:r>
            <a:endParaRPr lang="en-US" sz="1400" dirty="0"/>
          </a:p>
        </p:txBody>
      </p:sp>
      <p:sp>
        <p:nvSpPr>
          <p:cNvPr id="25" name="Lo que el plan no incluye marca 3"/>
          <p:cNvSpPr/>
          <p:nvPr/>
        </p:nvSpPr>
        <p:spPr>
          <a:xfrm>
            <a:off x="4937760" y="3200400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6" name="Lo que el plan no incluye icono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0912" y="3273552"/>
            <a:ext cx="182880" cy="182880"/>
          </a:xfrm>
          <a:prstGeom prst="rect">
            <a:avLst/>
          </a:prstGeom>
        </p:spPr>
      </p:pic>
      <p:sp>
        <p:nvSpPr>
          <p:cNvPr id="27" name="Lo que el plan no incluye ítem 3"/>
          <p:cNvSpPr txBox="1"/>
          <p:nvPr/>
        </p:nvSpPr>
        <p:spPr>
          <a:xfrm>
            <a:off x="5440680" y="316382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defensa penal del conductor (se ofrece aparte)</a:t>
            </a:r>
            <a:endParaRPr lang="en-US" sz="1400" dirty="0"/>
          </a:p>
        </p:txBody>
      </p:sp>
      <p:sp>
        <p:nvSpPr>
          <p:cNvPr id="28" name="Lo que el plan no incluye marca 4"/>
          <p:cNvSpPr/>
          <p:nvPr/>
        </p:nvSpPr>
        <p:spPr>
          <a:xfrm>
            <a:off x="4937760" y="3822192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9" name="Lo que el plan no incluye icono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0912" y="3895344"/>
            <a:ext cx="182880" cy="182880"/>
          </a:xfrm>
          <a:prstGeom prst="rect">
            <a:avLst/>
          </a:prstGeom>
        </p:spPr>
      </p:pic>
      <p:sp>
        <p:nvSpPr>
          <p:cNvPr id="30" name="Lo que el plan no incluye ítem 4"/>
          <p:cNvSpPr txBox="1"/>
          <p:nvPr/>
        </p:nvSpPr>
        <p:spPr>
          <a:xfrm>
            <a:off x="5440680" y="378561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Garantía de resultado: ningún abogado serio puede prometerla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Opcional: asesoría permanente a la cooperativa</a:t>
            </a:r>
            <a:endParaRPr lang="en-US" sz="2800" dirty="0"/>
          </a:p>
        </p:txBody>
      </p:sp>
      <p:sp>
        <p:nvSpPr>
          <p:cNvPr id="3" name="Asesoría encabezado"/>
          <p:cNvSpPr txBox="1"/>
          <p:nvPr/>
        </p:nvSpPr>
        <p:spPr>
          <a:xfrm>
            <a:off x="457200" y="1188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Qué incluye la asesoría Jurix</a:t>
            </a:r>
            <a:endParaRPr lang="en-US" sz="1800" dirty="0"/>
          </a:p>
        </p:txBody>
      </p:sp>
      <p:sp>
        <p:nvSpPr>
          <p:cNvPr id="4" name="Incluye 1 círculo"/>
          <p:cNvSpPr/>
          <p:nvPr/>
        </p:nvSpPr>
        <p:spPr>
          <a:xfrm>
            <a:off x="457200" y="173736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ncluye 1 icono" descr="Incluy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644" y="1813804"/>
            <a:ext cx="194584" cy="194584"/>
          </a:xfrm>
          <a:prstGeom prst="rect">
            <a:avLst/>
          </a:prstGeom>
        </p:spPr>
      </p:pic>
      <p:sp>
        <p:nvSpPr>
          <p:cNvPr id="6" name="Incluye 1"/>
          <p:cNvSpPr txBox="1"/>
          <p:nvPr/>
        </p:nvSpPr>
        <p:spPr>
          <a:xfrm>
            <a:off x="960120" y="17556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Asistencia a las asambleas</a:t>
            </a:r>
            <a:endParaRPr lang="en-US" sz="1500" dirty="0"/>
          </a:p>
        </p:txBody>
      </p:sp>
      <p:sp>
        <p:nvSpPr>
          <p:cNvPr id="7" name="Incluye 2 círculo"/>
          <p:cNvSpPr/>
          <p:nvPr/>
        </p:nvSpPr>
        <p:spPr>
          <a:xfrm>
            <a:off x="457200" y="221284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ncluye 2 icono" descr="Incluy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644" y="2289292"/>
            <a:ext cx="194584" cy="194584"/>
          </a:xfrm>
          <a:prstGeom prst="rect">
            <a:avLst/>
          </a:prstGeom>
        </p:spPr>
      </p:pic>
      <p:sp>
        <p:nvSpPr>
          <p:cNvPr id="9" name="Incluye 2"/>
          <p:cNvSpPr txBox="1"/>
          <p:nvPr/>
        </p:nvSpPr>
        <p:spPr>
          <a:xfrm>
            <a:off x="960120" y="223113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Reformas de estatuto y reglamentos</a:t>
            </a:r>
            <a:endParaRPr lang="en-US" sz="1500" dirty="0"/>
          </a:p>
        </p:txBody>
      </p:sp>
      <p:sp>
        <p:nvSpPr>
          <p:cNvPr id="10" name="Incluye 3 círculo"/>
          <p:cNvSpPr/>
          <p:nvPr/>
        </p:nvSpPr>
        <p:spPr>
          <a:xfrm>
            <a:off x="457200" y="2688336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ncluye 3 icono" descr="Incluy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44" y="2764780"/>
            <a:ext cx="194584" cy="194584"/>
          </a:xfrm>
          <a:prstGeom prst="rect">
            <a:avLst/>
          </a:prstGeom>
        </p:spPr>
      </p:pic>
      <p:sp>
        <p:nvSpPr>
          <p:cNvPr id="12" name="Incluye 3"/>
          <p:cNvSpPr txBox="1"/>
          <p:nvPr/>
        </p:nvSpPr>
        <p:spPr>
          <a:xfrm>
            <a:off x="960120" y="270662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Cumplimiento ante la SEPS</a:t>
            </a:r>
            <a:endParaRPr lang="en-US" sz="1500" dirty="0"/>
          </a:p>
        </p:txBody>
      </p:sp>
      <p:sp>
        <p:nvSpPr>
          <p:cNvPr id="13" name="Incluye 4 círculo"/>
          <p:cNvSpPr/>
          <p:nvPr/>
        </p:nvSpPr>
        <p:spPr>
          <a:xfrm>
            <a:off x="457200" y="316382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ncluye 4 icono" descr="Incluye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44" y="3240268"/>
            <a:ext cx="194584" cy="194584"/>
          </a:xfrm>
          <a:prstGeom prst="rect">
            <a:avLst/>
          </a:prstGeom>
        </p:spPr>
      </p:pic>
      <p:sp>
        <p:nvSpPr>
          <p:cNvPr id="15" name="Incluye 4"/>
          <p:cNvSpPr txBox="1"/>
          <p:nvPr/>
        </p:nvSpPr>
        <p:spPr>
          <a:xfrm>
            <a:off x="960120" y="318211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Trámites ante la ATM y la ANT</a:t>
            </a:r>
            <a:endParaRPr lang="en-US" sz="1500" dirty="0"/>
          </a:p>
        </p:txBody>
      </p:sp>
      <p:sp>
        <p:nvSpPr>
          <p:cNvPr id="16" name="Incluye 5 círculo"/>
          <p:cNvSpPr/>
          <p:nvPr/>
        </p:nvSpPr>
        <p:spPr>
          <a:xfrm>
            <a:off x="457200" y="3639312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ncluye 5 icono" descr="Incluye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644" y="3715756"/>
            <a:ext cx="194584" cy="194584"/>
          </a:xfrm>
          <a:prstGeom prst="rect">
            <a:avLst/>
          </a:prstGeom>
        </p:spPr>
      </p:pic>
      <p:sp>
        <p:nvSpPr>
          <p:cNvPr id="18" name="Incluye 5"/>
          <p:cNvSpPr txBox="1"/>
          <p:nvPr/>
        </p:nvSpPr>
        <p:spPr>
          <a:xfrm>
            <a:off x="960120" y="36576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Consultas del gerente y del consejo durante el mes</a:t>
            </a:r>
            <a:endParaRPr lang="en-US" sz="1500" dirty="0"/>
          </a:p>
        </p:txBody>
      </p:sp>
      <p:sp>
        <p:nvSpPr>
          <p:cNvPr id="19" name="Incluye 6 círculo"/>
          <p:cNvSpPr/>
          <p:nvPr/>
        </p:nvSpPr>
        <p:spPr>
          <a:xfrm>
            <a:off x="457200" y="411480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ncluye 6 icono" descr="Incluye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644" y="4191244"/>
            <a:ext cx="194584" cy="194584"/>
          </a:xfrm>
          <a:prstGeom prst="rect">
            <a:avLst/>
          </a:prstGeom>
        </p:spPr>
      </p:pic>
      <p:sp>
        <p:nvSpPr>
          <p:cNvPr id="21" name="Incluye 6"/>
          <p:cNvSpPr txBox="1"/>
          <p:nvPr/>
        </p:nvSpPr>
        <p:spPr>
          <a:xfrm>
            <a:off x="960120" y="413308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Revisión de contratos de la cooperativa</a:t>
            </a:r>
            <a:endParaRPr lang="en-US" sz="1500" dirty="0"/>
          </a:p>
        </p:txBody>
      </p:sp>
      <p:sp>
        <p:nvSpPr>
          <p:cNvPr id="22" name="Precio asesoría"/>
          <p:cNvSpPr/>
          <p:nvPr/>
        </p:nvSpPr>
        <p:spPr>
          <a:xfrm>
            <a:off x="5486400" y="1188720"/>
            <a:ext cx="3200400" cy="32004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Asesoría cifra"/>
          <p:cNvSpPr txBox="1"/>
          <p:nvPr/>
        </p:nvSpPr>
        <p:spPr>
          <a:xfrm>
            <a:off x="5760720" y="1463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FB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400</a:t>
            </a:r>
            <a:endParaRPr lang="en-US" sz="4000" dirty="0"/>
          </a:p>
        </p:txBody>
      </p:sp>
      <p:sp>
        <p:nvSpPr>
          <p:cNvPr id="24" name="Asesoría unidad"/>
          <p:cNvSpPr txBox="1"/>
          <p:nvPr/>
        </p:nvSpPr>
        <p:spPr>
          <a:xfrm>
            <a:off x="5760720" y="2240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al mes por cooperativa</a:t>
            </a:r>
            <a:endParaRPr lang="en-US" sz="1600" dirty="0"/>
          </a:p>
        </p:txBody>
      </p:sp>
      <p:sp>
        <p:nvSpPr>
          <p:cNvPr id="25" name="Asesoría texto"/>
          <p:cNvSpPr txBox="1"/>
          <p:nvPr/>
        </p:nvSpPr>
        <p:spPr>
          <a:xfrm>
            <a:off x="5760720" y="27432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Asesoría completa para el gerente y el consejo durante todo el mes, no solo el día de la asamblea.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Empecemos con un diagnóstico gratuito</a:t>
            </a:r>
            <a:endParaRPr lang="en-US" sz="3000" dirty="0"/>
          </a:p>
        </p:txBody>
      </p:sp>
      <p:sp>
        <p:nvSpPr>
          <p:cNvPr id="3" name="Paso 1 tarjeta"/>
          <p:cNvSpPr/>
          <p:nvPr/>
        </p:nvSpPr>
        <p:spPr>
          <a:xfrm>
            <a:off x="457200" y="1417320"/>
            <a:ext cx="2606040" cy="2697480"/>
          </a:xfrm>
          <a:prstGeom prst="roundRect">
            <a:avLst>
              <a:gd name="adj" fmla="val 4211"/>
            </a:avLst>
          </a:prstGeom>
          <a:solidFill>
            <a:srgbClr val="153B73"/>
          </a:solidFill>
          <a:ln w="12700">
            <a:solidFill>
              <a:srgbClr val="153B73"/>
            </a:solidFill>
            <a:prstDash val="solid"/>
          </a:ln>
        </p:spPr>
      </p:sp>
      <p:sp>
        <p:nvSpPr>
          <p:cNvPr id="4" name="Paso 1 círculo"/>
          <p:cNvSpPr/>
          <p:nvPr/>
        </p:nvSpPr>
        <p:spPr>
          <a:xfrm>
            <a:off x="685800" y="164592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Paso 1 icono" descr="Paso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34" y="1806854"/>
            <a:ext cx="409651" cy="409651"/>
          </a:xfrm>
          <a:prstGeom prst="rect">
            <a:avLst/>
          </a:prstGeom>
        </p:spPr>
      </p:pic>
      <p:sp>
        <p:nvSpPr>
          <p:cNvPr id="6" name="Paso 1 título"/>
          <p:cNvSpPr txBox="1"/>
          <p:nvPr/>
        </p:nvSpPr>
        <p:spPr>
          <a:xfrm>
            <a:off x="685800" y="2560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B4F0"/>
                </a:solidFill>
              </a:rPr>
              <a:t>1. Diagnóstico gratuito</a:t>
            </a:r>
            <a:endParaRPr lang="en-US" sz="1600" dirty="0"/>
          </a:p>
        </p:txBody>
      </p:sp>
      <p:sp>
        <p:nvSpPr>
          <p:cNvPr id="7" name="Paso 1 texto"/>
          <p:cNvSpPr txBox="1"/>
          <p:nvPr/>
        </p:nvSpPr>
        <p:spPr>
          <a:xfrm>
            <a:off x="68580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 la lista de placas revisamos las multas de su flota y le entregamos un informe.</a:t>
            </a:r>
            <a:endParaRPr lang="en-US" sz="1400" dirty="0"/>
          </a:p>
        </p:txBody>
      </p:sp>
      <p:sp>
        <p:nvSpPr>
          <p:cNvPr id="8" name="Paso 2 tarjeta"/>
          <p:cNvSpPr/>
          <p:nvPr/>
        </p:nvSpPr>
        <p:spPr>
          <a:xfrm>
            <a:off x="3246120" y="1417320"/>
            <a:ext cx="2606040" cy="2697480"/>
          </a:xfrm>
          <a:prstGeom prst="roundRect">
            <a:avLst>
              <a:gd name="adj" fmla="val 4211"/>
            </a:avLst>
          </a:prstGeom>
          <a:solidFill>
            <a:srgbClr val="153B73"/>
          </a:solidFill>
          <a:ln w="12700">
            <a:solidFill>
              <a:srgbClr val="153B73"/>
            </a:solidFill>
            <a:prstDash val="solid"/>
          </a:ln>
        </p:spPr>
      </p:sp>
      <p:sp>
        <p:nvSpPr>
          <p:cNvPr id="9" name="Paso 2 círculo"/>
          <p:cNvSpPr/>
          <p:nvPr/>
        </p:nvSpPr>
        <p:spPr>
          <a:xfrm>
            <a:off x="3474720" y="164592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0" name="Paso 2 icono" descr="Paso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654" y="1806854"/>
            <a:ext cx="409651" cy="409651"/>
          </a:xfrm>
          <a:prstGeom prst="rect">
            <a:avLst/>
          </a:prstGeom>
        </p:spPr>
      </p:pic>
      <p:sp>
        <p:nvSpPr>
          <p:cNvPr id="11" name="Paso 2 título"/>
          <p:cNvSpPr txBox="1"/>
          <p:nvPr/>
        </p:nvSpPr>
        <p:spPr>
          <a:xfrm>
            <a:off x="3474720" y="2560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B4F0"/>
                </a:solidFill>
              </a:rPr>
              <a:t>2. Presentación</a:t>
            </a:r>
            <a:endParaRPr lang="en-US" sz="1600" dirty="0"/>
          </a:p>
        </p:txBody>
      </p:sp>
      <p:sp>
        <p:nvSpPr>
          <p:cNvPr id="12" name="Paso 2 texto"/>
          <p:cNvSpPr txBox="1"/>
          <p:nvPr/>
        </p:nvSpPr>
        <p:spPr>
          <a:xfrm>
            <a:off x="347472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Explicamos el plan en la asamblea de socios y resolvemos sus dudas.</a:t>
            </a:r>
            <a:endParaRPr lang="en-US" sz="1400" dirty="0"/>
          </a:p>
        </p:txBody>
      </p:sp>
      <p:sp>
        <p:nvSpPr>
          <p:cNvPr id="13" name="Paso 3 tarjeta"/>
          <p:cNvSpPr/>
          <p:nvPr/>
        </p:nvSpPr>
        <p:spPr>
          <a:xfrm>
            <a:off x="6035040" y="1417320"/>
            <a:ext cx="2606040" cy="2697480"/>
          </a:xfrm>
          <a:prstGeom prst="roundRect">
            <a:avLst>
              <a:gd name="adj" fmla="val 4211"/>
            </a:avLst>
          </a:prstGeom>
          <a:solidFill>
            <a:srgbClr val="153B73"/>
          </a:solidFill>
          <a:ln w="12700">
            <a:solidFill>
              <a:srgbClr val="153B73"/>
            </a:solidFill>
            <a:prstDash val="solid"/>
          </a:ln>
        </p:spPr>
      </p:sp>
      <p:sp>
        <p:nvSpPr>
          <p:cNvPr id="14" name="Paso 3 círculo"/>
          <p:cNvSpPr/>
          <p:nvPr/>
        </p:nvSpPr>
        <p:spPr>
          <a:xfrm>
            <a:off x="6263640" y="164592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5" name="Paso 3 icono" descr="Paso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574" y="1806854"/>
            <a:ext cx="409651" cy="409651"/>
          </a:xfrm>
          <a:prstGeom prst="rect">
            <a:avLst/>
          </a:prstGeom>
        </p:spPr>
      </p:pic>
      <p:sp>
        <p:nvSpPr>
          <p:cNvPr id="16" name="Paso 3 título"/>
          <p:cNvSpPr txBox="1"/>
          <p:nvPr/>
        </p:nvSpPr>
        <p:spPr>
          <a:xfrm>
            <a:off x="6263640" y="2560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B4F0"/>
                </a:solidFill>
              </a:rPr>
              <a:t>3. Activación en 30 días</a:t>
            </a:r>
            <a:endParaRPr lang="en-US" sz="1600" dirty="0"/>
          </a:p>
        </p:txBody>
      </p:sp>
      <p:sp>
        <p:nvSpPr>
          <p:cNvPr id="17" name="Paso 3 texto"/>
          <p:cNvSpPr txBox="1"/>
          <p:nvPr/>
        </p:nvSpPr>
        <p:spPr>
          <a:xfrm>
            <a:off x="626364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Firmamos el contrato y empezamos el monitoreo de todas las placas.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urix Ruta Segura">
  <a:themeElements>
    <a:clrScheme name="Jurix Ruta Segura">
      <a:dk1>
        <a:srgbClr val="1A1F2B"/>
      </a:dk1>
      <a:lt1>
        <a:srgbClr val="FFFFFF"/>
      </a:lt1>
      <a:dk2>
        <a:srgbClr val="0B2A5B"/>
      </a:dk2>
      <a:lt2>
        <a:srgbClr val="F2F4F7"/>
      </a:lt2>
      <a:accent1>
        <a:srgbClr val="014BAD"/>
      </a:accent1>
      <a:accent2>
        <a:srgbClr val="014BAD"/>
      </a:accent2>
      <a:accent3>
        <a:srgbClr val="727272"/>
      </a:accent3>
      <a:accent4>
        <a:srgbClr val="C0392B"/>
      </a:accent4>
      <a:accent5>
        <a:srgbClr val="2A9D8F"/>
      </a:accent5>
      <a:accent6>
        <a:srgbClr val="C8D3E6"/>
      </a:accent6>
      <a:hlink>
        <a:srgbClr val="1F6FEB"/>
      </a:hlink>
      <a:folHlink>
        <a:srgbClr val="6B4FBB"/>
      </a:folHlink>
    </a:clrScheme>
    <a:fontScheme name="Jurix Ruta Segur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Jurix Global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Ruta Segura — Jurix Global</dc:title>
  <dc:subject>PptxGenJS Presentation</dc:subject>
  <dc:creator>Jurix Global</dc:creator>
  <cp:lastModifiedBy>Jurix Global</cp:lastModifiedBy>
  <cp:revision>1</cp:revision>
  <dcterms:created xsi:type="dcterms:W3CDTF">2026-10-31T16:10:16Z</dcterms:created>
  <dcterms:modified xsi:type="dcterms:W3CDTF">2026-10-31T16:10:16Z</dcterms:modified>
</cp:coreProperties>
</file>