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1c3fb1f2-c4f2-5474-178b-439b47896bc6}">
          <p14:sldIdLst>
            <p14:sldId id="256"/>
          </p14:sldIdLst>
        </p14:section>
        <p14:section name="El problema" id="{9fe4b385-e3af-4539-f24d-974dc88a1f84}">
          <p14:sldIdLst>
            <p14:sldId id="257"/>
            <p14:sldId id="258"/>
          </p14:sldIdLst>
        </p14:section>
        <p14:section name="La solución" id="{156a76ab-b73e-25cf-8910-91a61a14dde5}">
          <p14:sldIdLst>
            <p14:sldId id="259"/>
            <p14:sldId id="260"/>
            <p14:sldId id="261"/>
          </p14:sldIdLst>
        </p14:section>
        <p14:section name="Inversión" id="{1c85c811-bbd2-63ed-ae8f-d0e0d79ec2cf}">
          <p14:sldIdLst>
            <p14:sldId id="262"/>
            <p14:sldId id="263"/>
            <p14:sldId id="264"/>
          </p14:sldIdLst>
        </p14:section>
        <p14:section name="Próximos pasos" id="{81f588ad-4de0-1bb1-7823-6f2134fd282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para el gerente o el consejo de administración de la cooperativa. Objetivo: conseguir la autorización para hacer el diagnóstico gratuito de multas y luego presentar el plan en asamblea.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al gerente: ¿cuántas multas pagaron los socios el último año y cuántas se enteraron a tiempo para impugnar? El objetivo es que reconozca el problema con sus propios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prometa que el dueño quedará libre de responsabilidad: la ley lo hace responsable solidario en lo civil. Lo que ofrecemos es llegar rápido, recuperar el bus y defender su patrimonio.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 la oferta. Insista en que es un servicio permanente: la cooperativa deja de buscar abogado cada vez que hay un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Recalque que el plazo legal es de 3 días. El compromiso del socio es enviarnos la citación dentro de 24 horas. Toda citación recibida a tiempo se impugna: la decisión la toma el juez, no el estudio.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reporte es lo que el gerente presenta al consejo. Le da control sobre la flota sin trabajo 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la cuenta con el número real de buses de la cooperativa. Precios sin IVA. Descuento de reserva (no está escrito en la presentación): si dudan, la asesoría puede quedar en USD 300 al contratar también el plan de buses. Úselo solo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argumento no es que el socio ahorre en multas: es que el año malo le cuesta la mitad y tiene un abogado desde el primer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transparentes genera confianza. Ningún abogado puede prometer resultados ni librar al dueño de su responsabilidad civil; lo que garantizamos es atención rápida y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pidiendo la lista de placas para el diagnóstico. Es un compromiso pequeño para la cooperativa y la siguiente reunión ya es con sus propios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486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Jurix Global, asesoría legal y financi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36008"/>
            <a:ext cx="868680" cy="3925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Jurix Global, asesoría legal y financi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43400"/>
            <a:ext cx="1371600" cy="6198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WhatsApp y teléfono: 098 780 4294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Guayaquil, Ecuador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Jurix Global" descr="Jurix Global, asesoría legal y financi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2011680" cy="90917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Plan Ruta Segura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60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Asistencia legal permanente para cooperativas de transporte: multas, siniestros y gestión de la cooperativa</a:t>
            </a:r>
            <a:endParaRPr lang="en-US" sz="1800" dirty="0"/>
          </a:p>
        </p:txBody>
      </p:sp>
      <p:sp>
        <p:nvSpPr>
          <p:cNvPr id="5" name="Bus círculo"/>
          <p:cNvSpPr/>
          <p:nvPr/>
        </p:nvSpPr>
        <p:spPr>
          <a:xfrm>
            <a:off x="6263640" y="1234440"/>
            <a:ext cx="2377440" cy="23774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Bus icono" descr="B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677" y="1757477"/>
            <a:ext cx="1331366" cy="13313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citación de tránsito tiene solo 3 días de vida</a:t>
            </a:r>
            <a:endParaRPr lang="en-US" sz="2800" dirty="0"/>
          </a:p>
        </p:txBody>
      </p:sp>
      <p:sp>
        <p:nvSpPr>
          <p:cNvPr id="3" name="Dato 1"/>
          <p:cNvSpPr/>
          <p:nvPr/>
        </p:nvSpPr>
        <p:spPr>
          <a:xfrm>
            <a:off x="457200" y="123444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to 1 cifra"/>
          <p:cNvSpPr txBox="1"/>
          <p:nvPr/>
        </p:nvSpPr>
        <p:spPr>
          <a:xfrm>
            <a:off x="68580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días</a:t>
            </a:r>
            <a:endParaRPr lang="en-US" sz="3400" dirty="0"/>
          </a:p>
        </p:txBody>
      </p:sp>
      <p:sp>
        <p:nvSpPr>
          <p:cNvPr id="5" name="Dato 1 texto"/>
          <p:cNvSpPr txBox="1"/>
          <p:nvPr/>
        </p:nvSpPr>
        <p:spPr>
          <a:xfrm>
            <a:off x="685800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impugnar una citación. Después queda aceptada y se cobra como título de crédito (art. 644 COIP).</a:t>
            </a:r>
            <a:endParaRPr lang="en-US" sz="1400" dirty="0"/>
          </a:p>
        </p:txBody>
      </p:sp>
      <p:sp>
        <p:nvSpPr>
          <p:cNvPr id="6" name="Dato 2"/>
          <p:cNvSpPr/>
          <p:nvPr/>
        </p:nvSpPr>
        <p:spPr>
          <a:xfrm>
            <a:off x="3246120" y="123444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ato 2 cifra"/>
          <p:cNvSpPr txBox="1"/>
          <p:nvPr/>
        </p:nvSpPr>
        <p:spPr>
          <a:xfrm>
            <a:off x="34747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145</a:t>
            </a:r>
            <a:endParaRPr lang="en-US" sz="3400" dirty="0"/>
          </a:p>
        </p:txBody>
      </p:sp>
      <p:sp>
        <p:nvSpPr>
          <p:cNvPr id="8" name="Dato 2 texto"/>
          <p:cNvSpPr txBox="1"/>
          <p:nvPr/>
        </p:nvSpPr>
        <p:spPr>
          <a:xfrm>
            <a:off x="3474720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cuesta en 2026 una multa grave, el 30 % del salario básico de USD 482. Una muy grave, unos USD 241.</a:t>
            </a:r>
            <a:endParaRPr lang="en-US" sz="1400" dirty="0"/>
          </a:p>
        </p:txBody>
      </p:sp>
      <p:sp>
        <p:nvSpPr>
          <p:cNvPr id="9" name="Dato 3"/>
          <p:cNvSpPr/>
          <p:nvPr/>
        </p:nvSpPr>
        <p:spPr>
          <a:xfrm>
            <a:off x="6035040" y="1234440"/>
            <a:ext cx="260604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ato 3 cifra"/>
          <p:cNvSpPr txBox="1"/>
          <p:nvPr/>
        </p:nvSpPr>
        <p:spPr>
          <a:xfrm>
            <a:off x="626364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dueño</a:t>
            </a:r>
            <a:endParaRPr lang="en-US" sz="3400" dirty="0"/>
          </a:p>
        </p:txBody>
      </p:sp>
      <p:sp>
        <p:nvSpPr>
          <p:cNvPr id="11" name="Dato 3 texto"/>
          <p:cNvSpPr txBox="1"/>
          <p:nvPr/>
        </p:nvSpPr>
        <p:spPr>
          <a:xfrm>
            <a:off x="6263640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responde solidariamente por el pago de la multa, aunque no haya estado al volante (art. 386 COIP).</a:t>
            </a:r>
            <a:endParaRPr lang="en-US" sz="1400" dirty="0"/>
          </a:p>
        </p:txBody>
      </p:sp>
      <p:sp>
        <p:nvSpPr>
          <p:cNvPr id="12" name="Conclusión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La mayoría de los dueños se entera cuando ya no hay nada que hacer: al matricular o al ir a liberar el bus.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 cuando hay un siniestro, el bus deja de trabajar</a:t>
            </a:r>
            <a:endParaRPr lang="en-US" sz="2800" dirty="0"/>
          </a:p>
        </p:txBody>
      </p:sp>
      <p:sp>
        <p:nvSpPr>
          <p:cNvPr id="3" name="El bus queda retenido círculo"/>
          <p:cNvSpPr/>
          <p:nvPr/>
        </p:nvSpPr>
        <p:spPr>
          <a:xfrm>
            <a:off x="457200" y="1234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El bus queda retenido icono" descr="El bus queda reten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" y="1395374"/>
            <a:ext cx="409651" cy="409651"/>
          </a:xfrm>
          <a:prstGeom prst="rect">
            <a:avLst/>
          </a:prstGeom>
        </p:spPr>
      </p:pic>
      <p:sp>
        <p:nvSpPr>
          <p:cNvPr id="5" name="El bus queda retenido título"/>
          <p:cNvSpPr txBox="1"/>
          <p:nvPr/>
        </p:nvSpPr>
        <p:spPr>
          <a:xfrm>
            <a:off x="1417320" y="1252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bus queda retenido</a:t>
            </a:r>
            <a:endParaRPr lang="en-US" sz="1700" dirty="0"/>
          </a:p>
        </p:txBody>
      </p:sp>
      <p:sp>
        <p:nvSpPr>
          <p:cNvPr id="6" name="El bus queda retenido texto"/>
          <p:cNvSpPr txBox="1"/>
          <p:nvPr/>
        </p:nvSpPr>
        <p:spPr>
          <a:xfrm>
            <a:off x="1417320" y="1618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día parado es un día sin ingresos para el socio.</a:t>
            </a:r>
            <a:endParaRPr lang="en-US" sz="1400" dirty="0"/>
          </a:p>
        </p:txBody>
      </p:sp>
      <p:sp>
        <p:nvSpPr>
          <p:cNvPr id="7" name="El dueño debe comparecer círculo"/>
          <p:cNvSpPr/>
          <p:nvPr/>
        </p:nvSpPr>
        <p:spPr>
          <a:xfrm>
            <a:off x="457200" y="2331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El dueño debe comparecer icono" descr="El dueño debe comparec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" y="2492654"/>
            <a:ext cx="409651" cy="409651"/>
          </a:xfrm>
          <a:prstGeom prst="rect">
            <a:avLst/>
          </a:prstGeom>
        </p:spPr>
      </p:pic>
      <p:sp>
        <p:nvSpPr>
          <p:cNvPr id="9" name="El dueño debe comparecer título"/>
          <p:cNvSpPr txBox="1"/>
          <p:nvPr/>
        </p:nvSpPr>
        <p:spPr>
          <a:xfrm>
            <a:off x="1417320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dueño debe comparecer</a:t>
            </a:r>
            <a:endParaRPr lang="en-US" sz="1700" dirty="0"/>
          </a:p>
        </p:txBody>
      </p:sp>
      <p:sp>
        <p:nvSpPr>
          <p:cNvPr id="10" name="El dueño debe comparecer texto"/>
          <p:cNvSpPr txBox="1"/>
          <p:nvPr/>
        </p:nvSpPr>
        <p:spPr>
          <a:xfrm>
            <a:off x="1417320" y="2715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Ante la Fiscalía, para pedir la devolución de su vehículo.</a:t>
            </a:r>
            <a:endParaRPr lang="en-US" sz="1400" dirty="0"/>
          </a:p>
        </p:txBody>
      </p:sp>
      <p:sp>
        <p:nvSpPr>
          <p:cNvPr id="11" name="El dueño responde en lo civil círculo"/>
          <p:cNvSpPr/>
          <p:nvPr/>
        </p:nvSpPr>
        <p:spPr>
          <a:xfrm>
            <a:off x="457200" y="3429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El dueño responde en lo civil icono" descr="El dueño responde en lo civ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" y="3589934"/>
            <a:ext cx="409651" cy="409651"/>
          </a:xfrm>
          <a:prstGeom prst="rect">
            <a:avLst/>
          </a:prstGeom>
        </p:spPr>
      </p:pic>
      <p:sp>
        <p:nvSpPr>
          <p:cNvPr id="13" name="El dueño responde en lo civil título"/>
          <p:cNvSpPr txBox="1"/>
          <p:nvPr/>
        </p:nvSpPr>
        <p:spPr>
          <a:xfrm>
            <a:off x="1417320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dueño responde en lo civil</a:t>
            </a:r>
            <a:endParaRPr lang="en-US" sz="1700" dirty="0"/>
          </a:p>
        </p:txBody>
      </p:sp>
      <p:sp>
        <p:nvSpPr>
          <p:cNvPr id="14" name="El dueño responde en lo civil texto"/>
          <p:cNvSpPr txBox="1"/>
          <p:nvPr/>
        </p:nvSpPr>
        <p:spPr>
          <a:xfrm>
            <a:off x="1417320" y="3813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forma solidaria por los daños, aunque no conducía (arts. 379 y 380 COIP).</a:t>
            </a:r>
            <a:endParaRPr lang="en-US" sz="1400" dirty="0"/>
          </a:p>
        </p:txBody>
      </p:sp>
      <p:sp>
        <p:nvSpPr>
          <p:cNvPr id="15" name="Panel 24 horas"/>
          <p:cNvSpPr/>
          <p:nvPr/>
        </p:nvSpPr>
        <p:spPr>
          <a:xfrm>
            <a:off x="5303520" y="1234440"/>
            <a:ext cx="338328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Panel título"/>
          <p:cNvSpPr txBox="1"/>
          <p:nvPr/>
        </p:nvSpPr>
        <p:spPr>
          <a:xfrm>
            <a:off x="5577840" y="1508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primeras 24 horas deciden el caso</a:t>
            </a:r>
            <a:endParaRPr lang="en-US" sz="2200" dirty="0"/>
          </a:p>
        </p:txBody>
      </p:sp>
      <p:sp>
        <p:nvSpPr>
          <p:cNvPr id="17" name="Panel texto"/>
          <p:cNvSpPr txBox="1"/>
          <p:nvPr/>
        </p:nvSpPr>
        <p:spPr>
          <a:xfrm>
            <a:off x="5577840" y="2606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 flagrancia, las versiones, el peritaje y la posibilidad de un acuerdo se juegan el primer día. Sin un abogado que llegue a tiempo, se pierde tiempo y dinero.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Plan Ruta Segura: cuatro servicios en un solo plan</a:t>
            </a:r>
            <a:endParaRPr lang="en-US" sz="2800" dirty="0"/>
          </a:p>
        </p:txBody>
      </p:sp>
      <p:sp>
        <p:nvSpPr>
          <p:cNvPr id="3" name="Monitoreo de multas tarjeta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nitoreo de multas círculo"/>
          <p:cNvSpPr/>
          <p:nvPr/>
        </p:nvSpPr>
        <p:spPr>
          <a:xfrm>
            <a:off x="68580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onitoreo de multas icono" descr="Monitoreo de mul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1725473"/>
            <a:ext cx="435254" cy="435254"/>
          </a:xfrm>
          <a:prstGeom prst="rect">
            <a:avLst/>
          </a:prstGeom>
        </p:spPr>
      </p:pic>
      <p:sp>
        <p:nvSpPr>
          <p:cNvPr id="6" name="Monitoreo de multas título"/>
          <p:cNvSpPr txBox="1"/>
          <p:nvPr/>
        </p:nvSpPr>
        <p:spPr>
          <a:xfrm>
            <a:off x="164592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Monitoreo de multas</a:t>
            </a:r>
            <a:endParaRPr lang="en-US" sz="1600" dirty="0"/>
          </a:p>
        </p:txBody>
      </p:sp>
      <p:sp>
        <p:nvSpPr>
          <p:cNvPr id="7" name="Monitoreo de multas texto"/>
          <p:cNvSpPr txBox="1"/>
          <p:nvPr/>
        </p:nvSpPr>
        <p:spPr>
          <a:xfrm>
            <a:off x="164592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Revisamos cada mes las multas de todas las placas y avisamos a tiempo al socio.</a:t>
            </a:r>
            <a:endParaRPr lang="en-US" sz="1400" dirty="0"/>
          </a:p>
        </p:txBody>
      </p:sp>
      <p:sp>
        <p:nvSpPr>
          <p:cNvPr id="8" name="Impugnación incluida tarjeta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mpugnación incluida círculo"/>
          <p:cNvSpPr/>
          <p:nvPr/>
        </p:nvSpPr>
        <p:spPr>
          <a:xfrm>
            <a:off x="4892040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pugnación incluida icono" descr="Impugnación inclui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033" y="1725473"/>
            <a:ext cx="435254" cy="435254"/>
          </a:xfrm>
          <a:prstGeom prst="rect">
            <a:avLst/>
          </a:prstGeom>
        </p:spPr>
      </p:pic>
      <p:sp>
        <p:nvSpPr>
          <p:cNvPr id="11" name="Impugnación incluida título"/>
          <p:cNvSpPr txBox="1"/>
          <p:nvPr/>
        </p:nvSpPr>
        <p:spPr>
          <a:xfrm>
            <a:off x="585216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Impugnación incluida</a:t>
            </a:r>
            <a:endParaRPr lang="en-US" sz="1600" dirty="0"/>
          </a:p>
        </p:txBody>
      </p:sp>
      <p:sp>
        <p:nvSpPr>
          <p:cNvPr id="12" name="Impugnación incluida texto"/>
          <p:cNvSpPr txBox="1"/>
          <p:nvPr/>
        </p:nvSpPr>
        <p:spPr>
          <a:xfrm>
            <a:off x="585216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impugnación por bus al año, garantizada. La defendemos y el juez decide.</a:t>
            </a:r>
            <a:endParaRPr lang="en-US" sz="1400" dirty="0"/>
          </a:p>
        </p:txBody>
      </p:sp>
      <p:sp>
        <p:nvSpPr>
          <p:cNvPr id="13" name="Respuesta ante siniestros tarjeta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spuesta ante siniestros círculo"/>
          <p:cNvSpPr/>
          <p:nvPr/>
        </p:nvSpPr>
        <p:spPr>
          <a:xfrm>
            <a:off x="685800" y="3246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Respuesta ante siniestros icono" descr="Respuesta ante siniestr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3417113"/>
            <a:ext cx="435254" cy="435254"/>
          </a:xfrm>
          <a:prstGeom prst="rect">
            <a:avLst/>
          </a:prstGeom>
        </p:spPr>
      </p:pic>
      <p:sp>
        <p:nvSpPr>
          <p:cNvPr id="16" name="Respuesta ante siniestros título"/>
          <p:cNvSpPr txBox="1"/>
          <p:nvPr/>
        </p:nvSpPr>
        <p:spPr>
          <a:xfrm>
            <a:off x="164592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Respuesta ante siniestros</a:t>
            </a:r>
            <a:endParaRPr lang="en-US" sz="1600" dirty="0"/>
          </a:p>
        </p:txBody>
      </p:sp>
      <p:sp>
        <p:nvSpPr>
          <p:cNvPr id="17" name="Respuesta ante siniestros texto"/>
          <p:cNvSpPr txBox="1"/>
          <p:nvPr/>
        </p:nvSpPr>
        <p:spPr>
          <a:xfrm>
            <a:off x="1645920" y="3520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Abogado en la flagrancia y en la Fiscalía, y pedido de devolución del vehículo.</a:t>
            </a:r>
            <a:endParaRPr lang="en-US" sz="1400" dirty="0"/>
          </a:p>
        </p:txBody>
      </p:sp>
      <p:sp>
        <p:nvSpPr>
          <p:cNvPr id="18" name="Asesoría a la cooperativa tarjeta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sesoría a la cooperativa círculo"/>
          <p:cNvSpPr/>
          <p:nvPr/>
        </p:nvSpPr>
        <p:spPr>
          <a:xfrm>
            <a:off x="4892040" y="3246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Asesoría a la cooperativa icono" descr="Asesoría a la cooperativ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033" y="3417113"/>
            <a:ext cx="435254" cy="435254"/>
          </a:xfrm>
          <a:prstGeom prst="rect">
            <a:avLst/>
          </a:prstGeom>
        </p:spPr>
      </p:pic>
      <p:sp>
        <p:nvSpPr>
          <p:cNvPr id="21" name="Asesoría a la cooperativa título"/>
          <p:cNvSpPr txBox="1"/>
          <p:nvPr/>
        </p:nvSpPr>
        <p:spPr>
          <a:xfrm>
            <a:off x="585216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Asesoría a la cooperativa</a:t>
            </a:r>
            <a:endParaRPr lang="en-US" sz="1600" dirty="0"/>
          </a:p>
        </p:txBody>
      </p:sp>
      <p:sp>
        <p:nvSpPr>
          <p:cNvPr id="22" name="Asesoría a la cooperativa texto"/>
          <p:cNvSpPr txBox="1"/>
          <p:nvPr/>
        </p:nvSpPr>
        <p:spPr>
          <a:xfrm>
            <a:off x="5852160" y="3520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Asambleas, estatutos, SEPS y trámites ante la ATM y la 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Así funciona una impugnación con el plan</a:t>
            </a:r>
            <a:endParaRPr lang="en-US" sz="2800" dirty="0"/>
          </a:p>
        </p:txBody>
      </p:sp>
      <p:sp>
        <p:nvSpPr>
          <p:cNvPr id="3" name="Paso 1 círculo"/>
          <p:cNvSpPr/>
          <p:nvPr/>
        </p:nvSpPr>
        <p:spPr>
          <a:xfrm>
            <a:off x="100584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aso 1 icono" descr="Pas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50" y="1516990"/>
            <a:ext cx="486461" cy="486461"/>
          </a:xfrm>
          <a:prstGeom prst="rect">
            <a:avLst/>
          </a:prstGeom>
        </p:spPr>
      </p:pic>
      <p:sp>
        <p:nvSpPr>
          <p:cNvPr id="5" name="Flecha 1"/>
          <p:cNvSpPr/>
          <p:nvPr/>
        </p:nvSpPr>
        <p:spPr>
          <a:xfrm>
            <a:off x="2011680" y="176022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Paso 1 título"/>
          <p:cNvSpPr txBox="1"/>
          <p:nvPr/>
        </p:nvSpPr>
        <p:spPr>
          <a:xfrm>
            <a:off x="45720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Recibimos</a:t>
            </a:r>
            <a:endParaRPr lang="en-US" sz="1700" dirty="0"/>
          </a:p>
        </p:txBody>
      </p:sp>
      <p:sp>
        <p:nvSpPr>
          <p:cNvPr id="7" name="Paso 1 texto"/>
          <p:cNvSpPr txBox="1"/>
          <p:nvPr/>
        </p:nvSpPr>
        <p:spPr>
          <a:xfrm>
            <a:off x="45720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chofer o el socio manda la foto por WhatsApp dentro de 24 horas.</a:t>
            </a:r>
            <a:endParaRPr lang="en-US" sz="1400" dirty="0"/>
          </a:p>
        </p:txBody>
      </p:sp>
      <p:sp>
        <p:nvSpPr>
          <p:cNvPr id="8" name="Paso 2 círculo"/>
          <p:cNvSpPr/>
          <p:nvPr/>
        </p:nvSpPr>
        <p:spPr>
          <a:xfrm>
            <a:off x="310896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Paso 2 icono" descr="Pas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070" y="1516990"/>
            <a:ext cx="486461" cy="486461"/>
          </a:xfrm>
          <a:prstGeom prst="rect">
            <a:avLst/>
          </a:prstGeom>
        </p:spPr>
      </p:pic>
      <p:sp>
        <p:nvSpPr>
          <p:cNvPr id="10" name="Flecha 2"/>
          <p:cNvSpPr/>
          <p:nvPr/>
        </p:nvSpPr>
        <p:spPr>
          <a:xfrm>
            <a:off x="4114800" y="176022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Paso 2 título"/>
          <p:cNvSpPr txBox="1"/>
          <p:nvPr/>
        </p:nvSpPr>
        <p:spPr>
          <a:xfrm>
            <a:off x="256032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Preparamos</a:t>
            </a:r>
            <a:endParaRPr lang="en-US" sz="1700" dirty="0"/>
          </a:p>
        </p:txBody>
      </p:sp>
      <p:sp>
        <p:nvSpPr>
          <p:cNvPr id="12" name="Paso 2 texto"/>
          <p:cNvSpPr txBox="1"/>
          <p:nvPr/>
        </p:nvSpPr>
        <p:spPr>
          <a:xfrm>
            <a:off x="256032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Armamos la defensa con las pruebas y le explicamos la estrategia.</a:t>
            </a:r>
            <a:endParaRPr lang="en-US" sz="1400" dirty="0"/>
          </a:p>
        </p:txBody>
      </p:sp>
      <p:sp>
        <p:nvSpPr>
          <p:cNvPr id="13" name="Paso 3 círculo"/>
          <p:cNvSpPr/>
          <p:nvPr/>
        </p:nvSpPr>
        <p:spPr>
          <a:xfrm>
            <a:off x="521208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Paso 3 icono" descr="Pas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190" y="1516990"/>
            <a:ext cx="486461" cy="486461"/>
          </a:xfrm>
          <a:prstGeom prst="rect">
            <a:avLst/>
          </a:prstGeom>
        </p:spPr>
      </p:pic>
      <p:sp>
        <p:nvSpPr>
          <p:cNvPr id="15" name="Flecha 3"/>
          <p:cNvSpPr/>
          <p:nvPr/>
        </p:nvSpPr>
        <p:spPr>
          <a:xfrm>
            <a:off x="6217920" y="1760220"/>
            <a:ext cx="9601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Paso 3 título"/>
          <p:cNvSpPr txBox="1"/>
          <p:nvPr/>
        </p:nvSpPr>
        <p:spPr>
          <a:xfrm>
            <a:off x="466344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Impugnamos</a:t>
            </a:r>
            <a:endParaRPr lang="en-US" sz="1700" dirty="0"/>
          </a:p>
        </p:txBody>
      </p:sp>
      <p:sp>
        <p:nvSpPr>
          <p:cNvPr id="17" name="Paso 3 texto"/>
          <p:cNvSpPr txBox="1"/>
          <p:nvPr/>
        </p:nvSpPr>
        <p:spPr>
          <a:xfrm>
            <a:off x="466344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Presentamos el escrito dentro del plazo y vamos a la audiencia.</a:t>
            </a:r>
            <a:endParaRPr lang="en-US" sz="1400" dirty="0"/>
          </a:p>
        </p:txBody>
      </p:sp>
      <p:sp>
        <p:nvSpPr>
          <p:cNvPr id="18" name="Paso 4 círculo"/>
          <p:cNvSpPr/>
          <p:nvPr/>
        </p:nvSpPr>
        <p:spPr>
          <a:xfrm>
            <a:off x="7315200" y="13258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Paso 4 icono" descr="Pas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310" y="1516990"/>
            <a:ext cx="486461" cy="486461"/>
          </a:xfrm>
          <a:prstGeom prst="rect">
            <a:avLst/>
          </a:prstGeom>
        </p:spPr>
      </p:pic>
      <p:sp>
        <p:nvSpPr>
          <p:cNvPr id="20" name="Paso 4 título"/>
          <p:cNvSpPr txBox="1"/>
          <p:nvPr/>
        </p:nvSpPr>
        <p:spPr>
          <a:xfrm>
            <a:off x="676656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Reportamos</a:t>
            </a:r>
            <a:endParaRPr lang="en-US" sz="1700" dirty="0"/>
          </a:p>
        </p:txBody>
      </p:sp>
      <p:sp>
        <p:nvSpPr>
          <p:cNvPr id="21" name="Paso 4 texto"/>
          <p:cNvSpPr txBox="1"/>
          <p:nvPr/>
        </p:nvSpPr>
        <p:spPr>
          <a:xfrm>
            <a:off x="6766560" y="28803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Resultado al socio y reporte mensual a la cooperativa.</a:t>
            </a:r>
            <a:endParaRPr lang="en-US" sz="1400" dirty="0"/>
          </a:p>
        </p:txBody>
      </p:sp>
      <p:sp>
        <p:nvSpPr>
          <p:cNvPr id="22" name="Conclusión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Sin aviso a tiempo no hay impugnación posible: por eso el plan empieza con el monitoreo de todas las placas.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Cada mes, la cooperativa sabe qué pasa con su flota</a:t>
            </a:r>
            <a:endParaRPr lang="en-US" sz="2800" dirty="0"/>
          </a:p>
        </p:txBody>
      </p:sp>
      <p:sp>
        <p:nvSpPr>
          <p:cNvPr id="3" name="Reporte encabezado"/>
          <p:cNvSpPr txBox="1"/>
          <p:nvPr/>
        </p:nvSpPr>
        <p:spPr>
          <a:xfrm>
            <a:off x="457200" y="1188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reporte mensual incluye</a:t>
            </a:r>
            <a:endParaRPr lang="en-US" sz="1800" dirty="0"/>
          </a:p>
        </p:txBody>
      </p:sp>
      <p:sp>
        <p:nvSpPr>
          <p:cNvPr id="4" name="Ítem 1 círculo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tem 1 icono" descr="Ít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" y="1817827"/>
            <a:ext cx="204826" cy="204826"/>
          </a:xfrm>
          <a:prstGeom prst="rect">
            <a:avLst/>
          </a:prstGeom>
        </p:spPr>
      </p:pic>
      <p:sp>
        <p:nvSpPr>
          <p:cNvPr id="6" name="Ítem 1"/>
          <p:cNvSpPr txBox="1"/>
          <p:nvPr/>
        </p:nvSpPr>
        <p:spPr>
          <a:xfrm>
            <a:off x="100584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Multas nuevas por placa y su valor</a:t>
            </a:r>
            <a:endParaRPr lang="en-US" sz="1500" dirty="0"/>
          </a:p>
        </p:txBody>
      </p:sp>
      <p:sp>
        <p:nvSpPr>
          <p:cNvPr id="7" name="Ítem 2 círculo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Ítem 2 icono" descr="Ítem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2366467"/>
            <a:ext cx="204826" cy="204826"/>
          </a:xfrm>
          <a:prstGeom prst="rect">
            <a:avLst/>
          </a:prstGeom>
        </p:spPr>
      </p:pic>
      <p:sp>
        <p:nvSpPr>
          <p:cNvPr id="9" name="Ítem 2"/>
          <p:cNvSpPr txBox="1"/>
          <p:nvPr/>
        </p:nvSpPr>
        <p:spPr>
          <a:xfrm>
            <a:off x="1005840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Plazos de impugnación en curso</a:t>
            </a:r>
            <a:endParaRPr lang="en-US" sz="1500" dirty="0"/>
          </a:p>
        </p:txBody>
      </p:sp>
      <p:sp>
        <p:nvSpPr>
          <p:cNvPr id="10" name="Ítem 3 círculo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tem 3 icono" descr="Ítem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" y="2915107"/>
            <a:ext cx="204826" cy="204826"/>
          </a:xfrm>
          <a:prstGeom prst="rect">
            <a:avLst/>
          </a:prstGeom>
        </p:spPr>
      </p:pic>
      <p:sp>
        <p:nvSpPr>
          <p:cNvPr id="12" name="Ítem 3"/>
          <p:cNvSpPr txBox="1"/>
          <p:nvPr/>
        </p:nvSpPr>
        <p:spPr>
          <a:xfrm>
            <a:off x="1005840" y="2862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Chofer y unidad que generan más multas</a:t>
            </a:r>
            <a:endParaRPr lang="en-US" sz="1500" dirty="0"/>
          </a:p>
        </p:txBody>
      </p:sp>
      <p:sp>
        <p:nvSpPr>
          <p:cNvPr id="13" name="Ítem 4 círculo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Ítem 4 icono" descr="Ítem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" y="3463747"/>
            <a:ext cx="204826" cy="204826"/>
          </a:xfrm>
          <a:prstGeom prst="rect">
            <a:avLst/>
          </a:prstGeom>
        </p:spPr>
      </p:pic>
      <p:sp>
        <p:nvSpPr>
          <p:cNvPr id="15" name="Ítem 4"/>
          <p:cNvSpPr txBox="1"/>
          <p:nvPr/>
        </p:nvSpPr>
        <p:spPr>
          <a:xfrm>
            <a:off x="1005840" y="34107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Resultado de cada impugnación</a:t>
            </a:r>
            <a:endParaRPr lang="en-US" sz="1500" dirty="0"/>
          </a:p>
        </p:txBody>
      </p:sp>
      <p:sp>
        <p:nvSpPr>
          <p:cNvPr id="16" name="Ítem 5 círculo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Ítem 5 icono" descr="Ítem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" y="4012387"/>
            <a:ext cx="204826" cy="204826"/>
          </a:xfrm>
          <a:prstGeom prst="rect">
            <a:avLst/>
          </a:prstGeom>
        </p:spPr>
      </p:pic>
      <p:sp>
        <p:nvSpPr>
          <p:cNvPr id="18" name="Ítem 5"/>
          <p:cNvSpPr txBox="1"/>
          <p:nvPr/>
        </p:nvSpPr>
        <p:spPr>
          <a:xfrm>
            <a:off x="1005840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Valores pendientes que bloquean la matrícula</a:t>
            </a:r>
            <a:endParaRPr lang="en-US" sz="1500" dirty="0"/>
          </a:p>
        </p:txBody>
      </p:sp>
      <p:sp>
        <p:nvSpPr>
          <p:cNvPr id="19" name="Panel información"/>
          <p:cNvSpPr/>
          <p:nvPr/>
        </p:nvSpPr>
        <p:spPr>
          <a:xfrm>
            <a:off x="5303520" y="1188720"/>
            <a:ext cx="33832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Reporte círculo"/>
          <p:cNvSpPr/>
          <p:nvPr/>
        </p:nvSpPr>
        <p:spPr>
          <a:xfrm>
            <a:off x="5623560" y="14630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Reporte icono" descr="Repor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611" y="1644091"/>
            <a:ext cx="460858" cy="460858"/>
          </a:xfrm>
          <a:prstGeom prst="rect">
            <a:avLst/>
          </a:prstGeom>
        </p:spPr>
      </p:pic>
      <p:sp>
        <p:nvSpPr>
          <p:cNvPr id="22" name="Panel título"/>
          <p:cNvSpPr txBox="1"/>
          <p:nvPr/>
        </p:nvSpPr>
        <p:spPr>
          <a:xfrm>
            <a:off x="562356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para decidir</a:t>
            </a:r>
            <a:endParaRPr lang="en-US" sz="1800" dirty="0"/>
          </a:p>
        </p:txBody>
      </p:sp>
      <p:sp>
        <p:nvSpPr>
          <p:cNvPr id="23" name="Panel texto"/>
          <p:cNvSpPr txBox="1"/>
          <p:nvPr/>
        </p:nvSpPr>
        <p:spPr>
          <a:xfrm>
            <a:off x="5623560" y="2971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Qué chofer capacitar, qué unidad revisar y qué multa conviene pagar a tiempo, antes de que bloquee la matrícula.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inversión clara y fija cada mes</a:t>
            </a:r>
            <a:endParaRPr lang="en-US" sz="2800" dirty="0"/>
          </a:p>
        </p:txBody>
      </p:sp>
      <p:sp>
        <p:nvSpPr>
          <p:cNvPr id="3" name="Precio 1"/>
          <p:cNvSpPr/>
          <p:nvPr/>
        </p:nvSpPr>
        <p:spPr>
          <a:xfrm>
            <a:off x="457200" y="11887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ecio 1 cifra"/>
          <p:cNvSpPr txBox="1"/>
          <p:nvPr/>
        </p:nvSpPr>
        <p:spPr>
          <a:xfrm>
            <a:off x="68580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400</a:t>
            </a:r>
            <a:endParaRPr lang="en-US" sz="3400" dirty="0"/>
          </a:p>
        </p:txBody>
      </p:sp>
      <p:sp>
        <p:nvSpPr>
          <p:cNvPr id="5" name="Precio 1 unidad"/>
          <p:cNvSpPr txBox="1"/>
          <p:nvPr/>
        </p:nvSpPr>
        <p:spPr>
          <a:xfrm>
            <a:off x="6858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 mes por cooperativa</a:t>
            </a:r>
            <a:endParaRPr lang="en-US" sz="1500" dirty="0"/>
          </a:p>
        </p:txBody>
      </p:sp>
      <p:sp>
        <p:nvSpPr>
          <p:cNvPr id="6" name="Precio 1 texto"/>
          <p:cNvSpPr txBox="1"/>
          <p:nvPr/>
        </p:nvSpPr>
        <p:spPr>
          <a:xfrm>
            <a:off x="68580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Asesoría permanente: asambleas, estatutos, SEPS, ATM y ANT.</a:t>
            </a:r>
            <a:endParaRPr lang="en-US" sz="1400" dirty="0"/>
          </a:p>
        </p:txBody>
      </p:sp>
      <p:sp>
        <p:nvSpPr>
          <p:cNvPr id="7" name="Precio 2"/>
          <p:cNvSpPr/>
          <p:nvPr/>
        </p:nvSpPr>
        <p:spPr>
          <a:xfrm>
            <a:off x="3246120" y="11887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Precio 2 cifra"/>
          <p:cNvSpPr txBox="1"/>
          <p:nvPr/>
        </p:nvSpPr>
        <p:spPr>
          <a:xfrm>
            <a:off x="347472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10</a:t>
            </a:r>
            <a:endParaRPr lang="en-US" sz="3400" dirty="0"/>
          </a:p>
        </p:txBody>
      </p:sp>
      <p:sp>
        <p:nvSpPr>
          <p:cNvPr id="9" name="Precio 2 unidad"/>
          <p:cNvSpPr txBox="1"/>
          <p:nvPr/>
        </p:nvSpPr>
        <p:spPr>
          <a:xfrm>
            <a:off x="34747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 mes por bus</a:t>
            </a:r>
            <a:endParaRPr lang="en-US" sz="1500" dirty="0"/>
          </a:p>
        </p:txBody>
      </p:sp>
      <p:sp>
        <p:nvSpPr>
          <p:cNvPr id="10" name="Precio 2 texto"/>
          <p:cNvSpPr txBox="1"/>
          <p:nvPr/>
        </p:nvSpPr>
        <p:spPr>
          <a:xfrm>
            <a:off x="347472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Monitoreo de multas, una impugnación al año y respuesta ante siniestros.</a:t>
            </a:r>
            <a:endParaRPr lang="en-US" sz="1400" dirty="0"/>
          </a:p>
        </p:txBody>
      </p:sp>
      <p:sp>
        <p:nvSpPr>
          <p:cNvPr id="11" name="Precio 3"/>
          <p:cNvSpPr/>
          <p:nvPr/>
        </p:nvSpPr>
        <p:spPr>
          <a:xfrm>
            <a:off x="6035040" y="11887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recio 3 cifra"/>
          <p:cNvSpPr txBox="1"/>
          <p:nvPr/>
        </p:nvSpPr>
        <p:spPr>
          <a:xfrm>
            <a:off x="62636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</a:t>
            </a:r>
            <a:endParaRPr lang="en-US" sz="3400" dirty="0"/>
          </a:p>
        </p:txBody>
      </p:sp>
      <p:sp>
        <p:nvSpPr>
          <p:cNvPr id="13" name="Precio 3 unidad"/>
          <p:cNvSpPr txBox="1"/>
          <p:nvPr/>
        </p:nvSpPr>
        <p:spPr>
          <a:xfrm>
            <a:off x="62636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 descuento</a:t>
            </a:r>
            <a:endParaRPr lang="en-US" sz="1500" dirty="0"/>
          </a:p>
        </p:txBody>
      </p:sp>
      <p:sp>
        <p:nvSpPr>
          <p:cNvPr id="14" name="Precio 3 texto"/>
          <p:cNvSpPr txBox="1"/>
          <p:nvPr/>
        </p:nvSpPr>
        <p:spPr>
          <a:xfrm>
            <a:off x="626364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Pagando el año completo por adelantado.</a:t>
            </a:r>
            <a:endParaRPr lang="en-US" sz="1400" dirty="0"/>
          </a:p>
        </p:txBody>
      </p:sp>
      <p:sp>
        <p:nvSpPr>
          <p:cNvPr id="15" name="Ejemplo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jemplo texto"/>
          <p:cNvSpPr txBox="1"/>
          <p:nvPr/>
        </p:nvSpPr>
        <p:spPr>
          <a:xfrm>
            <a:off x="731520" y="37673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Ejemplo: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cooperativa de 40 buses invierte USD 800 al mes. Son USD 20 por socio: unos USD 0,67 al día.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Tarifas preferenciales cuando más lo necesita</a:t>
            </a:r>
            <a:endParaRPr lang="en-US" sz="2800" dirty="0"/>
          </a:p>
        </p:txBody>
      </p:sp>
      <p:graphicFrame>
        <p:nvGraphicFramePr>
          <p:cNvPr id="9" name="Tabla de tarif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 del 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con lesionados (procedimiento directo)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1.200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con fallecidos (procedimiento directo)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Siniestro solo con daños materiales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el caso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Impugnación adicional (desde la segunda del año)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el caso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4B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A"/>
                    </a:solidFill>
                  </a:tcPr>
                </a:tc>
              </a:tr>
            </a:tbl>
          </a:graphicData>
        </a:graphic>
      </p:graphicFrame>
      <p:sp>
        <p:nvSpPr>
          <p:cNvPr id="4" name="Ahorro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horro cifra"/>
          <p:cNvSpPr txBox="1"/>
          <p:nvPr/>
        </p:nvSpPr>
        <p:spPr>
          <a:xfrm>
            <a:off x="6355080" y="1417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8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52 %</a:t>
            </a:r>
            <a:endParaRPr lang="en-US" sz="4800" dirty="0"/>
          </a:p>
        </p:txBody>
      </p:sp>
      <p:sp>
        <p:nvSpPr>
          <p:cNvPr id="6" name="Ahorro texto"/>
          <p:cNvSpPr txBox="1"/>
          <p:nvPr/>
        </p:nvSpPr>
        <p:spPr>
          <a:xfrm>
            <a:off x="635508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menos en el honorario de un caso con lesionados.</a:t>
            </a:r>
            <a:endParaRPr lang="en-US" sz="1600" dirty="0"/>
          </a:p>
        </p:txBody>
      </p:sp>
      <p:sp>
        <p:nvSpPr>
          <p:cNvPr id="7" name="Nota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Los honorarios por caso se pueden pagar en cuotas. Precios sin IVA.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Reglas claras desde el primer día</a:t>
            </a:r>
            <a:endParaRPr lang="en-US" sz="2800" dirty="0"/>
          </a:p>
        </p:txBody>
      </p:sp>
      <p:sp>
        <p:nvSpPr>
          <p:cNvPr id="3" name="Condiciones del plan tarjeta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diciones del plan título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Condiciones del plan</a:t>
            </a:r>
            <a:endParaRPr lang="en-US" sz="1800" dirty="0"/>
          </a:p>
        </p:txBody>
      </p:sp>
      <p:sp>
        <p:nvSpPr>
          <p:cNvPr id="5" name="Condiciones del plan marca 1"/>
          <p:cNvSpPr/>
          <p:nvPr/>
        </p:nvSpPr>
        <p:spPr>
          <a:xfrm>
            <a:off x="731520" y="1956816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diciones del plan 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29968"/>
            <a:ext cx="182880" cy="182880"/>
          </a:xfrm>
          <a:prstGeom prst="rect">
            <a:avLst/>
          </a:prstGeom>
        </p:spPr>
      </p:pic>
      <p:sp>
        <p:nvSpPr>
          <p:cNvPr id="7" name="Condiciones del plan ítem 1"/>
          <p:cNvSpPr txBox="1"/>
          <p:nvPr/>
        </p:nvSpPr>
        <p:spPr>
          <a:xfrm>
            <a:off x="123444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Cobertura desde el día 31 de la afiliación</a:t>
            </a:r>
            <a:endParaRPr lang="en-US" sz="1400" dirty="0"/>
          </a:p>
        </p:txBody>
      </p:sp>
      <p:sp>
        <p:nvSpPr>
          <p:cNvPr id="8" name="Condiciones del plan marca 2"/>
          <p:cNvSpPr/>
          <p:nvPr/>
        </p:nvSpPr>
        <p:spPr>
          <a:xfrm>
            <a:off x="731520" y="257860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diciones del plan 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51760"/>
            <a:ext cx="182880" cy="182880"/>
          </a:xfrm>
          <a:prstGeom prst="rect">
            <a:avLst/>
          </a:prstGeom>
        </p:spPr>
      </p:pic>
      <p:sp>
        <p:nvSpPr>
          <p:cNvPr id="10" name="Condiciones del plan ítem 2"/>
          <p:cNvSpPr txBox="1"/>
          <p:nvPr/>
        </p:nvSpPr>
        <p:spPr>
          <a:xfrm>
            <a:off x="1234440" y="25420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socios al día en sus pagos</a:t>
            </a:r>
            <a:endParaRPr lang="en-US" sz="1400" dirty="0"/>
          </a:p>
        </p:txBody>
      </p:sp>
      <p:sp>
        <p:nvSpPr>
          <p:cNvPr id="11" name="Condiciones del plan marca 3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Condiciones del plan 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73552"/>
            <a:ext cx="182880" cy="182880"/>
          </a:xfrm>
          <a:prstGeom prst="rect">
            <a:avLst/>
          </a:prstGeom>
        </p:spPr>
      </p:pic>
      <p:sp>
        <p:nvSpPr>
          <p:cNvPr id="13" name="Condiciones del plan ítem 3"/>
          <p:cNvSpPr txBox="1"/>
          <p:nvPr/>
        </p:nvSpPr>
        <p:spPr>
          <a:xfrm>
            <a:off x="123444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Aviso de la citación dentro de 24 horas</a:t>
            </a:r>
            <a:endParaRPr lang="en-US" sz="1400" dirty="0"/>
          </a:p>
        </p:txBody>
      </p:sp>
      <p:sp>
        <p:nvSpPr>
          <p:cNvPr id="14" name="Condiciones del plan marca 4"/>
          <p:cNvSpPr/>
          <p:nvPr/>
        </p:nvSpPr>
        <p:spPr>
          <a:xfrm>
            <a:off x="731520" y="3822192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Condiciones del plan icon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95344"/>
            <a:ext cx="182880" cy="182880"/>
          </a:xfrm>
          <a:prstGeom prst="rect">
            <a:avLst/>
          </a:prstGeom>
        </p:spPr>
      </p:pic>
      <p:sp>
        <p:nvSpPr>
          <p:cNvPr id="16" name="Condiciones del plan ítem 4"/>
          <p:cNvSpPr txBox="1"/>
          <p:nvPr/>
        </p:nvSpPr>
        <p:spPr>
          <a:xfrm>
            <a:off x="1234440" y="37856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Contrato anual aprobado en asamblea</a:t>
            </a:r>
            <a:endParaRPr lang="en-US" sz="1400" dirty="0"/>
          </a:p>
        </p:txBody>
      </p:sp>
      <p:sp>
        <p:nvSpPr>
          <p:cNvPr id="17" name="Lo que el plan no incluye tarjeta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 que el plan no incluye título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 que el plan no incluye</a:t>
            </a:r>
            <a:endParaRPr lang="en-US" sz="1800" dirty="0"/>
          </a:p>
        </p:txBody>
      </p:sp>
      <p:sp>
        <p:nvSpPr>
          <p:cNvPr id="19" name="Lo que el plan no incluye marca 1"/>
          <p:cNvSpPr/>
          <p:nvPr/>
        </p:nvSpPr>
        <p:spPr>
          <a:xfrm>
            <a:off x="4937760" y="195681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Lo que el plan no incluye icono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029968"/>
            <a:ext cx="182880" cy="182880"/>
          </a:xfrm>
          <a:prstGeom prst="rect">
            <a:avLst/>
          </a:prstGeom>
        </p:spPr>
      </p:pic>
      <p:sp>
        <p:nvSpPr>
          <p:cNvPr id="21" name="Lo que el plan no incluye ítem 1"/>
          <p:cNvSpPr txBox="1"/>
          <p:nvPr/>
        </p:nvSpPr>
        <p:spPr>
          <a:xfrm>
            <a:off x="544068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pago de multas o indemnizaciones</a:t>
            </a:r>
            <a:endParaRPr lang="en-US" sz="1400" dirty="0"/>
          </a:p>
        </p:txBody>
      </p:sp>
      <p:sp>
        <p:nvSpPr>
          <p:cNvPr id="22" name="Lo que el plan no incluye marca 2"/>
          <p:cNvSpPr/>
          <p:nvPr/>
        </p:nvSpPr>
        <p:spPr>
          <a:xfrm>
            <a:off x="4937760" y="257860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Lo que el plan no incluye icono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651760"/>
            <a:ext cx="182880" cy="182880"/>
          </a:xfrm>
          <a:prstGeom prst="rect">
            <a:avLst/>
          </a:prstGeom>
        </p:spPr>
      </p:pic>
      <p:sp>
        <p:nvSpPr>
          <p:cNvPr id="24" name="Lo que el plan no incluye ítem 2"/>
          <p:cNvSpPr txBox="1"/>
          <p:nvPr/>
        </p:nvSpPr>
        <p:spPr>
          <a:xfrm>
            <a:off x="5440680" y="25420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Peritajes privados ni cauciones</a:t>
            </a:r>
            <a:endParaRPr lang="en-US" sz="1400" dirty="0"/>
          </a:p>
        </p:txBody>
      </p:sp>
      <p:sp>
        <p:nvSpPr>
          <p:cNvPr id="25" name="Lo que el plan no incluye marca 3"/>
          <p:cNvSpPr/>
          <p:nvPr/>
        </p:nvSpPr>
        <p:spPr>
          <a:xfrm>
            <a:off x="4937760" y="320040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Lo que el plan no incluye icono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273552"/>
            <a:ext cx="182880" cy="182880"/>
          </a:xfrm>
          <a:prstGeom prst="rect">
            <a:avLst/>
          </a:prstGeom>
        </p:spPr>
      </p:pic>
      <p:sp>
        <p:nvSpPr>
          <p:cNvPr id="27" name="Lo que el plan no incluye ítem 3"/>
          <p:cNvSpPr txBox="1"/>
          <p:nvPr/>
        </p:nvSpPr>
        <p:spPr>
          <a:xfrm>
            <a:off x="544068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defensa penal del conductor (se ofrece aparte)</a:t>
            </a:r>
            <a:endParaRPr lang="en-US" sz="1400" dirty="0"/>
          </a:p>
        </p:txBody>
      </p:sp>
      <p:sp>
        <p:nvSpPr>
          <p:cNvPr id="28" name="Lo que el plan no incluye marca 4"/>
          <p:cNvSpPr/>
          <p:nvPr/>
        </p:nvSpPr>
        <p:spPr>
          <a:xfrm>
            <a:off x="4937760" y="382219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Lo que el plan no incluye icono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895344"/>
            <a:ext cx="182880" cy="182880"/>
          </a:xfrm>
          <a:prstGeom prst="rect">
            <a:avLst/>
          </a:prstGeom>
        </p:spPr>
      </p:pic>
      <p:sp>
        <p:nvSpPr>
          <p:cNvPr id="30" name="Lo que el plan no incluye ítem 4"/>
          <p:cNvSpPr txBox="1"/>
          <p:nvPr/>
        </p:nvSpPr>
        <p:spPr>
          <a:xfrm>
            <a:off x="5440680" y="37856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Garantía de resultado: ningún abogado serio puede prometerla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Empecemos con un diagnóstico gratuito</a:t>
            </a:r>
            <a:endParaRPr lang="en-US" sz="3000" dirty="0"/>
          </a:p>
        </p:txBody>
      </p:sp>
      <p:sp>
        <p:nvSpPr>
          <p:cNvPr id="3" name="Paso 1 tarjeta"/>
          <p:cNvSpPr/>
          <p:nvPr/>
        </p:nvSpPr>
        <p:spPr>
          <a:xfrm>
            <a:off x="457200" y="14173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153B73"/>
          </a:solidFill>
          <a:ln w="12700">
            <a:solidFill>
              <a:srgbClr val="153B73"/>
            </a:solidFill>
            <a:prstDash val="solid"/>
          </a:ln>
        </p:spPr>
      </p:sp>
      <p:sp>
        <p:nvSpPr>
          <p:cNvPr id="4" name="Paso 1 círculo"/>
          <p:cNvSpPr/>
          <p:nvPr/>
        </p:nvSpPr>
        <p:spPr>
          <a:xfrm>
            <a:off x="685800" y="164592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Paso 1 icono" descr="Pas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06854"/>
            <a:ext cx="409651" cy="409651"/>
          </a:xfrm>
          <a:prstGeom prst="rect">
            <a:avLst/>
          </a:prstGeom>
        </p:spPr>
      </p:pic>
      <p:sp>
        <p:nvSpPr>
          <p:cNvPr id="6" name="Paso 1 título"/>
          <p:cNvSpPr txBox="1"/>
          <p:nvPr/>
        </p:nvSpPr>
        <p:spPr>
          <a:xfrm>
            <a:off x="68580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1. Diagnóstico gratuito</a:t>
            </a:r>
            <a:endParaRPr lang="en-US" sz="1600" dirty="0"/>
          </a:p>
        </p:txBody>
      </p:sp>
      <p:sp>
        <p:nvSpPr>
          <p:cNvPr id="7" name="Paso 1 texto"/>
          <p:cNvSpPr txBox="1"/>
          <p:nvPr/>
        </p:nvSpPr>
        <p:spPr>
          <a:xfrm>
            <a:off x="685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 la lista de placas revisamos las multas de su flota y le entregamos un informe.</a:t>
            </a:r>
            <a:endParaRPr lang="en-US" sz="1400" dirty="0"/>
          </a:p>
        </p:txBody>
      </p:sp>
      <p:sp>
        <p:nvSpPr>
          <p:cNvPr id="8" name="Paso 2 tarjeta"/>
          <p:cNvSpPr/>
          <p:nvPr/>
        </p:nvSpPr>
        <p:spPr>
          <a:xfrm>
            <a:off x="3246120" y="14173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153B73"/>
          </a:solidFill>
          <a:ln w="12700">
            <a:solidFill>
              <a:srgbClr val="153B73"/>
            </a:solidFill>
            <a:prstDash val="solid"/>
          </a:ln>
        </p:spPr>
      </p:sp>
      <p:sp>
        <p:nvSpPr>
          <p:cNvPr id="9" name="Paso 2 círculo"/>
          <p:cNvSpPr/>
          <p:nvPr/>
        </p:nvSpPr>
        <p:spPr>
          <a:xfrm>
            <a:off x="3474720" y="164592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Paso 2 icono" descr="Pas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654" y="1806854"/>
            <a:ext cx="409651" cy="409651"/>
          </a:xfrm>
          <a:prstGeom prst="rect">
            <a:avLst/>
          </a:prstGeom>
        </p:spPr>
      </p:pic>
      <p:sp>
        <p:nvSpPr>
          <p:cNvPr id="11" name="Paso 2 título"/>
          <p:cNvSpPr txBox="1"/>
          <p:nvPr/>
        </p:nvSpPr>
        <p:spPr>
          <a:xfrm>
            <a:off x="347472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2. Presentación</a:t>
            </a:r>
            <a:endParaRPr lang="en-US" sz="1600" dirty="0"/>
          </a:p>
        </p:txBody>
      </p:sp>
      <p:sp>
        <p:nvSpPr>
          <p:cNvPr id="12" name="Paso 2 texto"/>
          <p:cNvSpPr txBox="1"/>
          <p:nvPr/>
        </p:nvSpPr>
        <p:spPr>
          <a:xfrm>
            <a:off x="34747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Explicamos el plan en la asamblea de socios y resolvemos sus dudas.</a:t>
            </a:r>
            <a:endParaRPr lang="en-US" sz="1400" dirty="0"/>
          </a:p>
        </p:txBody>
      </p:sp>
      <p:sp>
        <p:nvSpPr>
          <p:cNvPr id="13" name="Paso 3 tarjeta"/>
          <p:cNvSpPr/>
          <p:nvPr/>
        </p:nvSpPr>
        <p:spPr>
          <a:xfrm>
            <a:off x="6035040" y="14173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153B73"/>
          </a:solidFill>
          <a:ln w="12700">
            <a:solidFill>
              <a:srgbClr val="153B73"/>
            </a:solidFill>
            <a:prstDash val="solid"/>
          </a:ln>
        </p:spPr>
      </p:sp>
      <p:sp>
        <p:nvSpPr>
          <p:cNvPr id="14" name="Paso 3 círculo"/>
          <p:cNvSpPr/>
          <p:nvPr/>
        </p:nvSpPr>
        <p:spPr>
          <a:xfrm>
            <a:off x="6263640" y="164592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Paso 3 icono" descr="Pas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4" y="1806854"/>
            <a:ext cx="409651" cy="409651"/>
          </a:xfrm>
          <a:prstGeom prst="rect">
            <a:avLst/>
          </a:prstGeom>
        </p:spPr>
      </p:pic>
      <p:sp>
        <p:nvSpPr>
          <p:cNvPr id="16" name="Paso 3 título"/>
          <p:cNvSpPr txBox="1"/>
          <p:nvPr/>
        </p:nvSpPr>
        <p:spPr>
          <a:xfrm>
            <a:off x="626364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B4F0"/>
                </a:solidFill>
              </a:rPr>
              <a:t>3. Activación en 30 días</a:t>
            </a:r>
            <a:endParaRPr lang="en-US" sz="1600" dirty="0"/>
          </a:p>
        </p:txBody>
      </p:sp>
      <p:sp>
        <p:nvSpPr>
          <p:cNvPr id="17" name="Paso 3 texto"/>
          <p:cNvSpPr txBox="1"/>
          <p:nvPr/>
        </p:nvSpPr>
        <p:spPr>
          <a:xfrm>
            <a:off x="62636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Firmamos el contrato y empezamos el monitoreo de todas las placas.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rix Ruta Segura">
  <a:themeElements>
    <a:clrScheme name="Jurix Ruta Segura">
      <a:dk1>
        <a:srgbClr val="1A1F2B"/>
      </a:dk1>
      <a:lt1>
        <a:srgbClr val="FFFFFF"/>
      </a:lt1>
      <a:dk2>
        <a:srgbClr val="0B2A5B"/>
      </a:dk2>
      <a:lt2>
        <a:srgbClr val="F2F4F7"/>
      </a:lt2>
      <a:accent1>
        <a:srgbClr val="014BAD"/>
      </a:accent1>
      <a:accent2>
        <a:srgbClr val="014BAD"/>
      </a:accent2>
      <a:accent3>
        <a:srgbClr val="727272"/>
      </a:accent3>
      <a:accent4>
        <a:srgbClr val="C0392B"/>
      </a:accent4>
      <a:accent5>
        <a:srgbClr val="2A9D8F"/>
      </a:accent5>
      <a:accent6>
        <a:srgbClr val="C8D3E6"/>
      </a:accent6>
      <a:hlink>
        <a:srgbClr val="1F6FEB"/>
      </a:hlink>
      <a:folHlink>
        <a:srgbClr val="6B4FBB"/>
      </a:folHlink>
    </a:clrScheme>
    <a:fontScheme name="Jurix Ruta Segu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Jurix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Ruta Segura — Jurix Global</dc:title>
  <dc:subject>PptxGenJS Presentation</dc:subject>
  <dc:creator>Jurix Global</dc:creator>
  <cp:lastModifiedBy>Jurix Global</cp:lastModifiedBy>
  <cp:revision>1</cp:revision>
  <dcterms:created xsi:type="dcterms:W3CDTF">2026-10-31T16:10:15Z</dcterms:created>
  <dcterms:modified xsi:type="dcterms:W3CDTF">2026-10-31T16:10:15Z</dcterms:modified>
</cp:coreProperties>
</file>