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989bffdd-4aa9-d774-5771-0ba38dada64d}">
          <p14:sldIdLst>
            <p14:sldId id="256"/>
          </p14:sldIdLst>
        </p14:section>
        <p14:section name="Por qué" id="{c8267d3e-02b9-39e7-f976-ecfcf904f6f7}">
          <p14:sldIdLst>
            <p14:sldId id="257"/>
          </p14:sldIdLst>
        </p14:section>
        <p14:section name="La propuesta" id="{b8174bd6-1445-3ab1-0589-9806d39dd9f8}">
          <p14:sldIdLst>
            <p14:sldId id="258"/>
            <p14:sldId id="259"/>
            <p14:sldId id="260"/>
            <p14:sldId id="261"/>
          </p14:sldIdLst>
        </p14:section>
        <p14:section name="Inversión" id="{27ca81de-02cc-916f-ec0d-f7825b865a23}">
          <p14:sldIdLst>
            <p14:sldId id="262"/>
            <p14:sldId id="263"/>
          </p14:sldIdLst>
        </p14:section>
        <p14:section name="Cierre" id="{4366ff0f-6db6-bbe2-360a-019a9f008ac5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 Jurix Global y el objetivo: proteger a los conductores en la vía y a la cooperativa en su gestión interna.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riesgos concretos. Enfatizar que el permiso es de la cooperativa, no del socio, y que la exclusión mal hecha la revoca la SEPS.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pidiendo fecha para presentar la propuesta al Consejo de Administración.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Jurix Global · Plan Jurix Cooperativas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Plan Jurix Cooperativas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Respaldo legal para las 36 unidades en la vía y para la cooperativa por dentro</a:t>
            </a:r>
            <a:endParaRPr lang="en-US" sz="1800" dirty="0"/>
          </a:p>
        </p:txBody>
      </p:sp>
      <p:sp>
        <p:nvSpPr>
          <p:cNvPr id="4" name="Marca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JURIX GLOBAL · ESTUDIO JURÍDICO</a:t>
            </a:r>
            <a:endParaRPr lang="en-US" sz="1200" dirty="0"/>
          </a:p>
        </p:txBody>
      </p:sp>
      <p:sp>
        <p:nvSpPr>
          <p:cNvPr id="5" name="Pie portada"/>
          <p:cNvSpPr txBox="1"/>
          <p:nvPr/>
        </p:nvSpPr>
        <p:spPr>
          <a:xfrm>
            <a:off x="54864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Propuesta para cooperativa de transporte · Provincia del Guayas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Riesgos en la vía y dentro de la cooperativa</a:t>
            </a:r>
            <a:endParaRPr lang="en-US" sz="2600" dirty="0"/>
          </a:p>
        </p:txBody>
      </p:sp>
      <p:sp>
        <p:nvSpPr>
          <p:cNvPr id="3" name="Tarjeta riesgo 1"/>
          <p:cNvSpPr/>
          <p:nvPr/>
        </p:nvSpPr>
        <p:spPr>
          <a:xfrm>
            <a:off x="457200" y="1234440"/>
            <a:ext cx="25603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4" name="Cifra 1"/>
          <p:cNvSpPr txBox="1"/>
          <p:nvPr/>
        </p:nvSpPr>
        <p:spPr>
          <a:xfrm>
            <a:off x="685800" y="1417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800" dirty="0"/>
          </a:p>
        </p:txBody>
      </p:sp>
      <p:sp>
        <p:nvSpPr>
          <p:cNvPr id="5" name="Texto riesgo 1"/>
          <p:cNvSpPr txBox="1"/>
          <p:nvPr/>
        </p:nvSpPr>
        <p:spPr>
          <a:xfrm>
            <a:off x="685800" y="23774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expuestas cada día a accidentes, detenciones y retención del bus</a:t>
            </a:r>
            <a:endParaRPr lang="en-US" sz="1400" dirty="0"/>
          </a:p>
        </p:txBody>
      </p:sp>
      <p:sp>
        <p:nvSpPr>
          <p:cNvPr id="6" name="Tarjeta riesgo 2"/>
          <p:cNvSpPr/>
          <p:nvPr/>
        </p:nvSpPr>
        <p:spPr>
          <a:xfrm>
            <a:off x="3291840" y="1234440"/>
            <a:ext cx="25603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7" name="Cifra 2"/>
          <p:cNvSpPr txBox="1"/>
          <p:nvPr/>
        </p:nvSpPr>
        <p:spPr>
          <a:xfrm>
            <a:off x="3520440" y="1417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o riesgo 2"/>
          <p:cNvSpPr txBox="1"/>
          <p:nvPr/>
        </p:nvSpPr>
        <p:spPr>
          <a:xfrm>
            <a:off x="3520440" y="23774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permiso de operación para toda la flota: si se sanciona, lo sufren todos</a:t>
            </a:r>
            <a:endParaRPr lang="en-US" sz="1400" dirty="0"/>
          </a:p>
        </p:txBody>
      </p:sp>
      <p:sp>
        <p:nvSpPr>
          <p:cNvPr id="9" name="Tarjeta riesgo 3"/>
          <p:cNvSpPr/>
          <p:nvPr/>
        </p:nvSpPr>
        <p:spPr>
          <a:xfrm>
            <a:off x="6126480" y="1234440"/>
            <a:ext cx="25603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0" name="Cifra 3"/>
          <p:cNvSpPr txBox="1"/>
          <p:nvPr/>
        </p:nvSpPr>
        <p:spPr>
          <a:xfrm>
            <a:off x="6355080" y="1417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días</a:t>
            </a:r>
            <a:endParaRPr lang="en-US" sz="4800" dirty="0"/>
          </a:p>
        </p:txBody>
      </p:sp>
      <p:sp>
        <p:nvSpPr>
          <p:cNvPr id="11" name="Texto riesgo 3"/>
          <p:cNvSpPr txBox="1"/>
          <p:nvPr/>
        </p:nvSpPr>
        <p:spPr>
          <a:xfrm>
            <a:off x="6355080" y="23774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que un socio excluido apele ante la SEPS: un error de forma anula la decisión</a:t>
            </a:r>
            <a:endParaRPr lang="en-US" sz="1400" dirty="0"/>
          </a:p>
        </p:txBody>
      </p:sp>
      <p:sp>
        <p:nvSpPr>
          <p:cNvPr id="12" name="Nota responsabilidad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Además, en accidentes de transporte público, la operadora responde solidariamente por los daños civiles.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Dos servicios en un solo plan mensual</a:t>
            </a:r>
            <a:endParaRPr lang="en-US" sz="2600" dirty="0"/>
          </a:p>
        </p:txBody>
      </p:sp>
      <p:sp>
        <p:nvSpPr>
          <p:cNvPr id="3" name="Componente 1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Componente 1 círculo"/>
          <p:cNvSpPr/>
          <p:nvPr/>
        </p:nvSpPr>
        <p:spPr>
          <a:xfrm>
            <a:off x="77724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omponente 1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45920"/>
            <a:ext cx="365760" cy="365760"/>
          </a:xfrm>
          <a:prstGeom prst="rect">
            <a:avLst/>
          </a:prstGeom>
        </p:spPr>
      </p:pic>
      <p:sp>
        <p:nvSpPr>
          <p:cNvPr id="6" name="Título componente 1"/>
          <p:cNvSpPr txBox="1"/>
          <p:nvPr/>
        </p:nvSpPr>
        <p:spPr>
          <a:xfrm>
            <a:off x="77724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Tránsito</a:t>
            </a:r>
            <a:endParaRPr lang="en-US" sz="2200" dirty="0"/>
          </a:p>
        </p:txBody>
      </p:sp>
      <p:sp>
        <p:nvSpPr>
          <p:cNvPr id="7" name="Texto componente 1"/>
          <p:cNvSpPr txBox="1"/>
          <p:nvPr/>
        </p:nvSpPr>
        <p:spPr>
          <a:xfrm>
            <a:off x="777240" y="2834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Defensa del conductor y de la unidad desde el minuto del accidente hasta la sentencia del expedito.</a:t>
            </a:r>
            <a:endParaRPr lang="en-US" sz="1400" dirty="0"/>
          </a:p>
        </p:txBody>
      </p:sp>
      <p:sp>
        <p:nvSpPr>
          <p:cNvPr id="8" name="Precio componente 1"/>
          <p:cNvSpPr txBox="1"/>
          <p:nvPr/>
        </p:nvSpPr>
        <p:spPr>
          <a:xfrm>
            <a:off x="777240" y="3840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USD 30 + IVA por unidad</a:t>
            </a:r>
            <a:endParaRPr lang="en-US" sz="1600" dirty="0"/>
          </a:p>
        </p:txBody>
      </p:sp>
      <p:sp>
        <p:nvSpPr>
          <p:cNvPr id="9" name="Componente 2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0" name="Componente 2 círculo"/>
          <p:cNvSpPr/>
          <p:nvPr/>
        </p:nvSpPr>
        <p:spPr>
          <a:xfrm>
            <a:off x="498348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mponente 2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645920"/>
            <a:ext cx="365760" cy="365760"/>
          </a:xfrm>
          <a:prstGeom prst="rect">
            <a:avLst/>
          </a:prstGeom>
        </p:spPr>
      </p:pic>
      <p:sp>
        <p:nvSpPr>
          <p:cNvPr id="12" name="Título componente 2"/>
          <p:cNvSpPr txBox="1"/>
          <p:nvPr/>
        </p:nvSpPr>
        <p:spPr>
          <a:xfrm>
            <a:off x="498348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Cooperativismo</a:t>
            </a:r>
            <a:endParaRPr lang="en-US" sz="2200" dirty="0"/>
          </a:p>
        </p:txBody>
      </p:sp>
      <p:sp>
        <p:nvSpPr>
          <p:cNvPr id="13" name="Texto componente 2"/>
          <p:cNvSpPr txBox="1"/>
          <p:nvPr/>
        </p:nvSpPr>
        <p:spPr>
          <a:xfrm>
            <a:off x="4983480" y="2834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abogado asignado a la Gerencia y a los Consejos para que cada decisión cumpla la LOEPS.</a:t>
            </a:r>
            <a:endParaRPr lang="en-US" sz="1400" dirty="0"/>
          </a:p>
        </p:txBody>
      </p:sp>
      <p:sp>
        <p:nvSpPr>
          <p:cNvPr id="14" name="Precio componente 2"/>
          <p:cNvSpPr txBox="1"/>
          <p:nvPr/>
        </p:nvSpPr>
        <p:spPr>
          <a:xfrm>
            <a:off x="4983480" y="3840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USD 350 + IVA al mes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Tránsito: del accidente a la sentencia</a:t>
            </a:r>
            <a:endParaRPr lang="en-US" sz="2600" dirty="0"/>
          </a:p>
        </p:txBody>
      </p:sp>
      <p:sp>
        <p:nvSpPr>
          <p:cNvPr id="3" name="Línea del recorrido"/>
          <p:cNvSpPr/>
          <p:nvPr/>
        </p:nvSpPr>
        <p:spPr>
          <a:xfrm>
            <a:off x="1097280" y="1691640"/>
            <a:ext cx="6949440" cy="0"/>
          </a:xfrm>
          <a:prstGeom prst="line">
            <a:avLst/>
          </a:prstGeom>
          <a:noFill/>
          <a:ln w="25400">
            <a:solidFill>
              <a:srgbClr val="C9D3DE"/>
            </a:solidFill>
            <a:prstDash val="solid"/>
          </a:ln>
        </p:spPr>
      </p:sp>
      <p:sp>
        <p:nvSpPr>
          <p:cNvPr id="4" name="Paso 1 círculo"/>
          <p:cNvSpPr/>
          <p:nvPr/>
        </p:nvSpPr>
        <p:spPr>
          <a:xfrm>
            <a:off x="1005840" y="12801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aso 1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485900"/>
            <a:ext cx="411480" cy="411480"/>
          </a:xfrm>
          <a:prstGeom prst="rect">
            <a:avLst/>
          </a:prstGeom>
        </p:spPr>
      </p:pic>
      <p:sp>
        <p:nvSpPr>
          <p:cNvPr id="6" name="Paso 1 título"/>
          <p:cNvSpPr txBox="1"/>
          <p:nvPr/>
        </p:nvSpPr>
        <p:spPr>
          <a:xfrm>
            <a:off x="45720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Línea 24/7</a:t>
            </a:r>
            <a:endParaRPr lang="en-US" sz="1600" dirty="0"/>
          </a:p>
        </p:txBody>
      </p:sp>
      <p:sp>
        <p:nvSpPr>
          <p:cNvPr id="7" name="Paso 1 texto"/>
          <p:cNvSpPr txBox="1"/>
          <p:nvPr/>
        </p:nvSpPr>
        <p:spPr>
          <a:xfrm>
            <a:off x="457200" y="2651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Orientación inmediata y SPPAT para heridos</a:t>
            </a:r>
            <a:endParaRPr lang="en-US" sz="1400" dirty="0"/>
          </a:p>
        </p:txBody>
      </p:sp>
      <p:sp>
        <p:nvSpPr>
          <p:cNvPr id="8" name="Paso 2 círculo"/>
          <p:cNvSpPr/>
          <p:nvPr/>
        </p:nvSpPr>
        <p:spPr>
          <a:xfrm>
            <a:off x="3108960" y="12801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aso 2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485900"/>
            <a:ext cx="411480" cy="411480"/>
          </a:xfrm>
          <a:prstGeom prst="rect">
            <a:avLst/>
          </a:prstGeom>
        </p:spPr>
      </p:pic>
      <p:sp>
        <p:nvSpPr>
          <p:cNvPr id="10" name="Paso 2 título"/>
          <p:cNvSpPr txBox="1"/>
          <p:nvPr/>
        </p:nvSpPr>
        <p:spPr>
          <a:xfrm>
            <a:off x="256032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Flagrancia</a:t>
            </a:r>
            <a:endParaRPr lang="en-US" sz="1600" dirty="0"/>
          </a:p>
        </p:txBody>
      </p:sp>
      <p:sp>
        <p:nvSpPr>
          <p:cNvPr id="11" name="Paso 2 texto"/>
          <p:cNvSpPr txBox="1"/>
          <p:nvPr/>
        </p:nvSpPr>
        <p:spPr>
          <a:xfrm>
            <a:off x="2560320" y="2651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Abogado en la audiencia, cualquiera que sea el procedimiento</a:t>
            </a:r>
            <a:endParaRPr lang="en-US" sz="1400" dirty="0"/>
          </a:p>
        </p:txBody>
      </p:sp>
      <p:sp>
        <p:nvSpPr>
          <p:cNvPr id="12" name="Paso 3 círculo"/>
          <p:cNvSpPr/>
          <p:nvPr/>
        </p:nvSpPr>
        <p:spPr>
          <a:xfrm>
            <a:off x="5212080" y="12801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Paso 3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485900"/>
            <a:ext cx="411480" cy="411480"/>
          </a:xfrm>
          <a:prstGeom prst="rect">
            <a:avLst/>
          </a:prstGeom>
        </p:spPr>
      </p:pic>
      <p:sp>
        <p:nvSpPr>
          <p:cNvPr id="14" name="Paso 3 título"/>
          <p:cNvSpPr txBox="1"/>
          <p:nvPr/>
        </p:nvSpPr>
        <p:spPr>
          <a:xfrm>
            <a:off x="466344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Devolución</a:t>
            </a:r>
            <a:endParaRPr lang="en-US" sz="1600" dirty="0"/>
          </a:p>
        </p:txBody>
      </p:sp>
      <p:sp>
        <p:nvSpPr>
          <p:cNvPr id="15" name="Paso 3 texto"/>
          <p:cNvSpPr txBox="1"/>
          <p:nvPr/>
        </p:nvSpPr>
        <p:spPr>
          <a:xfrm>
            <a:off x="4663440" y="2651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Pedimos el bus en Fiscalía 24 h después de las pericias</a:t>
            </a:r>
            <a:endParaRPr lang="en-US" sz="1400" dirty="0"/>
          </a:p>
        </p:txBody>
      </p:sp>
      <p:sp>
        <p:nvSpPr>
          <p:cNvPr id="16" name="Paso 4 círculo"/>
          <p:cNvSpPr/>
          <p:nvPr/>
        </p:nvSpPr>
        <p:spPr>
          <a:xfrm>
            <a:off x="7315200" y="12801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Paso 4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485900"/>
            <a:ext cx="411480" cy="411480"/>
          </a:xfrm>
          <a:prstGeom prst="rect">
            <a:avLst/>
          </a:prstGeom>
        </p:spPr>
      </p:pic>
      <p:sp>
        <p:nvSpPr>
          <p:cNvPr id="18" name="Paso 4 título"/>
          <p:cNvSpPr txBox="1"/>
          <p:nvPr/>
        </p:nvSpPr>
        <p:spPr>
          <a:xfrm>
            <a:off x="676656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Todo el expedito</a:t>
            </a:r>
            <a:endParaRPr lang="en-US" sz="1600" dirty="0"/>
          </a:p>
        </p:txBody>
      </p:sp>
      <p:sp>
        <p:nvSpPr>
          <p:cNvPr id="19" name="Paso 4 texto"/>
          <p:cNvSpPr txBox="1"/>
          <p:nvPr/>
        </p:nvSpPr>
        <p:spPr>
          <a:xfrm>
            <a:off x="6766560" y="2651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Boletas, daños y ebriedad, hasta la apelación</a:t>
            </a:r>
            <a:endParaRPr lang="en-US" sz="1400" dirty="0"/>
          </a:p>
        </p:txBody>
      </p:sp>
      <p:sp>
        <p:nvSpPr>
          <p:cNvPr id="20" name="Incluye además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1" name="Texto incluye"/>
          <p:cNvSpPr txBox="1"/>
          <p:nvPr/>
        </p:nvSpPr>
        <p:spPr>
          <a:xfrm>
            <a:off x="685800" y="3840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Incluye además: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acuerdos de reparación y defensa de la cooperativa como responsable solidaria. Hasta 2 conductores por unidad.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Cooperativismo: abogado de la cooperativa</a:t>
            </a:r>
            <a:endParaRPr lang="en-US" sz="2600" dirty="0"/>
          </a:p>
        </p:txBody>
      </p:sp>
      <p:sp>
        <p:nvSpPr>
          <p:cNvPr id="3" name="Servicio 1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Servicio 1 círculo"/>
          <p:cNvSpPr/>
          <p:nvPr/>
        </p:nvSpPr>
        <p:spPr>
          <a:xfrm>
            <a:off x="640080" y="138988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ervicio 1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15618"/>
            <a:ext cx="251460" cy="251460"/>
          </a:xfrm>
          <a:prstGeom prst="rect">
            <a:avLst/>
          </a:prstGeom>
        </p:spPr>
      </p:pic>
      <p:sp>
        <p:nvSpPr>
          <p:cNvPr id="6" name="Servicio 1 título"/>
          <p:cNvSpPr txBox="1"/>
          <p:nvPr/>
        </p:nvSpPr>
        <p:spPr>
          <a:xfrm>
            <a:off x="128016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Asambleas</a:t>
            </a:r>
            <a:endParaRPr lang="en-US" sz="1500" dirty="0"/>
          </a:p>
        </p:txBody>
      </p:sp>
      <p:sp>
        <p:nvSpPr>
          <p:cNvPr id="7" name="Servicio 1 texto"/>
          <p:cNvSpPr txBox="1"/>
          <p:nvPr/>
        </p:nvSpPr>
        <p:spPr>
          <a:xfrm>
            <a:off x="64008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Convocatoria, quórum y actas; asistencia a 3 al año</a:t>
            </a:r>
            <a:endParaRPr lang="en-US" sz="1300" dirty="0"/>
          </a:p>
        </p:txBody>
      </p:sp>
      <p:sp>
        <p:nvSpPr>
          <p:cNvPr id="8" name="Servicio 2"/>
          <p:cNvSpPr/>
          <p:nvPr/>
        </p:nvSpPr>
        <p:spPr>
          <a:xfrm>
            <a:off x="3246120" y="1188720"/>
            <a:ext cx="260604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9" name="Servicio 2 círculo"/>
          <p:cNvSpPr/>
          <p:nvPr/>
        </p:nvSpPr>
        <p:spPr>
          <a:xfrm>
            <a:off x="3429000" y="138988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ervicio 2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515618"/>
            <a:ext cx="251460" cy="251460"/>
          </a:xfrm>
          <a:prstGeom prst="rect">
            <a:avLst/>
          </a:prstGeom>
        </p:spPr>
      </p:pic>
      <p:sp>
        <p:nvSpPr>
          <p:cNvPr id="11" name="Servicio 2 título"/>
          <p:cNvSpPr txBox="1"/>
          <p:nvPr/>
        </p:nvSpPr>
        <p:spPr>
          <a:xfrm>
            <a:off x="406908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Consejo de Administración</a:t>
            </a:r>
            <a:endParaRPr lang="en-US" sz="1500" dirty="0"/>
          </a:p>
        </p:txBody>
      </p:sp>
      <p:sp>
        <p:nvSpPr>
          <p:cNvPr id="12" name="Servicio 2 texto"/>
          <p:cNvSpPr txBox="1"/>
          <p:nvPr/>
        </p:nvSpPr>
        <p:spPr>
          <a:xfrm>
            <a:off x="342900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Asistencia a 1 sesión al mes y consultas ilimitadas</a:t>
            </a:r>
            <a:endParaRPr lang="en-US" sz="1300" dirty="0"/>
          </a:p>
        </p:txBody>
      </p:sp>
      <p:sp>
        <p:nvSpPr>
          <p:cNvPr id="13" name="Servicio 3"/>
          <p:cNvSpPr/>
          <p:nvPr/>
        </p:nvSpPr>
        <p:spPr>
          <a:xfrm>
            <a:off x="6035040" y="1188720"/>
            <a:ext cx="260604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4" name="Servicio 3 círculo"/>
          <p:cNvSpPr/>
          <p:nvPr/>
        </p:nvSpPr>
        <p:spPr>
          <a:xfrm>
            <a:off x="6217920" y="138988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ervicio 3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515618"/>
            <a:ext cx="251460" cy="251460"/>
          </a:xfrm>
          <a:prstGeom prst="rect">
            <a:avLst/>
          </a:prstGeom>
        </p:spPr>
      </p:pic>
      <p:sp>
        <p:nvSpPr>
          <p:cNvPr id="16" name="Servicio 3 título"/>
          <p:cNvSpPr txBox="1"/>
          <p:nvPr/>
        </p:nvSpPr>
        <p:spPr>
          <a:xfrm>
            <a:off x="685800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Elecciones y registro</a:t>
            </a:r>
            <a:endParaRPr lang="en-US" sz="1500" dirty="0"/>
          </a:p>
        </p:txBody>
      </p:sp>
      <p:sp>
        <p:nvSpPr>
          <p:cNvPr id="17" name="Servicio 3 texto"/>
          <p:cNvSpPr txBox="1"/>
          <p:nvPr/>
        </p:nvSpPr>
        <p:spPr>
          <a:xfrm>
            <a:off x="621792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Vocales y gerente registrados ante la SEPS</a:t>
            </a:r>
            <a:endParaRPr lang="en-US" sz="1300" dirty="0"/>
          </a:p>
        </p:txBody>
      </p:sp>
      <p:sp>
        <p:nvSpPr>
          <p:cNvPr id="18" name="Servicio 4"/>
          <p:cNvSpPr/>
          <p:nvPr/>
        </p:nvSpPr>
        <p:spPr>
          <a:xfrm>
            <a:off x="457200" y="2880360"/>
            <a:ext cx="260604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9" name="Servicio 4 círculo"/>
          <p:cNvSpPr/>
          <p:nvPr/>
        </p:nvSpPr>
        <p:spPr>
          <a:xfrm>
            <a:off x="640080" y="30815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ervicio 4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207258"/>
            <a:ext cx="251460" cy="251460"/>
          </a:xfrm>
          <a:prstGeom prst="rect">
            <a:avLst/>
          </a:prstGeom>
        </p:spPr>
      </p:pic>
      <p:sp>
        <p:nvSpPr>
          <p:cNvPr id="21" name="Servicio 4 título"/>
          <p:cNvSpPr txBox="1"/>
          <p:nvPr/>
        </p:nvSpPr>
        <p:spPr>
          <a:xfrm>
            <a:off x="128016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Socios y unidades</a:t>
            </a:r>
            <a:endParaRPr lang="en-US" sz="1500" dirty="0"/>
          </a:p>
        </p:txBody>
      </p:sp>
      <p:sp>
        <p:nvSpPr>
          <p:cNvPr id="22" name="Servicio 4 texto"/>
          <p:cNvSpPr txBox="1"/>
          <p:nvPr/>
        </p:nvSpPr>
        <p:spPr>
          <a:xfrm>
            <a:off x="64008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Ingresos, retiros, venta de cupos y herederos</a:t>
            </a:r>
            <a:endParaRPr lang="en-US" sz="1300" dirty="0"/>
          </a:p>
        </p:txBody>
      </p:sp>
      <p:sp>
        <p:nvSpPr>
          <p:cNvPr id="23" name="Servicio 5"/>
          <p:cNvSpPr/>
          <p:nvPr/>
        </p:nvSpPr>
        <p:spPr>
          <a:xfrm>
            <a:off x="3246120" y="2880360"/>
            <a:ext cx="260604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4" name="Servicio 5 círculo"/>
          <p:cNvSpPr/>
          <p:nvPr/>
        </p:nvSpPr>
        <p:spPr>
          <a:xfrm>
            <a:off x="3429000" y="30815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Servicio 5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730" y="3207258"/>
            <a:ext cx="251460" cy="251460"/>
          </a:xfrm>
          <a:prstGeom prst="rect">
            <a:avLst/>
          </a:prstGeom>
        </p:spPr>
      </p:pic>
      <p:sp>
        <p:nvSpPr>
          <p:cNvPr id="26" name="Servicio 5 título"/>
          <p:cNvSpPr txBox="1"/>
          <p:nvPr/>
        </p:nvSpPr>
        <p:spPr>
          <a:xfrm>
            <a:off x="406908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Sanciones y exclusiones</a:t>
            </a:r>
            <a:endParaRPr lang="en-US" sz="1500" dirty="0"/>
          </a:p>
        </p:txBody>
      </p:sp>
      <p:sp>
        <p:nvSpPr>
          <p:cNvPr id="27" name="Servicio 5 texto"/>
          <p:cNvSpPr txBox="1"/>
          <p:nvPr/>
        </p:nvSpPr>
        <p:spPr>
          <a:xfrm>
            <a:off x="342900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Debido proceso, mediación y apelación ante la SEPS</a:t>
            </a:r>
            <a:endParaRPr lang="en-US" sz="1300" dirty="0"/>
          </a:p>
        </p:txBody>
      </p:sp>
      <p:sp>
        <p:nvSpPr>
          <p:cNvPr id="28" name="Servicio 6"/>
          <p:cNvSpPr/>
          <p:nvPr/>
        </p:nvSpPr>
        <p:spPr>
          <a:xfrm>
            <a:off x="6035040" y="2880360"/>
            <a:ext cx="260604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9" name="Servicio 6 círculo"/>
          <p:cNvSpPr/>
          <p:nvPr/>
        </p:nvSpPr>
        <p:spPr>
          <a:xfrm>
            <a:off x="6217920" y="30815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Servicio 6 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3207258"/>
            <a:ext cx="251460" cy="251460"/>
          </a:xfrm>
          <a:prstGeom prst="rect">
            <a:avLst/>
          </a:prstGeom>
        </p:spPr>
      </p:pic>
      <p:sp>
        <p:nvSpPr>
          <p:cNvPr id="31" name="Servicio 6 título"/>
          <p:cNvSpPr txBox="1"/>
          <p:nvPr/>
        </p:nvSpPr>
        <p:spPr>
          <a:xfrm>
            <a:off x="685800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SEPS y permiso</a:t>
            </a:r>
            <a:endParaRPr lang="en-US" sz="1500" dirty="0"/>
          </a:p>
        </p:txBody>
      </p:sp>
      <p:sp>
        <p:nvSpPr>
          <p:cNvPr id="32" name="Servicio 6 texto"/>
          <p:cNvSpPr txBox="1"/>
          <p:nvPr/>
        </p:nvSpPr>
        <p:spPr>
          <a:xfrm>
            <a:off x="621792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Requerimientos, balance social y trámites del permiso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Lo que exige la LOEPS</a:t>
            </a:r>
            <a:endParaRPr lang="en-US" sz="2600" dirty="0"/>
          </a:p>
        </p:txBody>
      </p:sp>
      <p:graphicFrame>
        <p:nvGraphicFramePr>
          <p:cNvPr id="7" name="Tabla LOEP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2377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Norma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Regla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Riesgo si se incumple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LOEPS, arts. 33–34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Asamblea directa: un socio, un voto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Resoluciones impugnables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LOEPS, art. 38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Consejo de Administración: 3 a 9 vocales, hasta 4 años, una reelección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Directivos sin registro válido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Reglamento LOEPS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Exclusión con debido proceso y voto secreto; apelación en 5 días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 SEPS revoca la exclusión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Reglamento LOEPS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 permiso de operación es de la cooperativa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Una sanción afecta a toda la flota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ota verificación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Artículos por confirmar contra el texto oficial antes de la reunión.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Inversión: USD 1 644,50 al mes</a:t>
            </a:r>
            <a:endParaRPr lang="en-US" sz="2600" dirty="0"/>
          </a:p>
        </p:txBody>
      </p:sp>
      <p:sp>
        <p:nvSpPr>
          <p:cNvPr id="3" name="Tarjeta precio"/>
          <p:cNvSpPr/>
          <p:nvPr/>
        </p:nvSpPr>
        <p:spPr>
          <a:xfrm>
            <a:off x="457200" y="1188720"/>
            <a:ext cx="329184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4" name="Precio por socio"/>
          <p:cNvSpPr txBox="1"/>
          <p:nvPr/>
        </p:nvSpPr>
        <p:spPr>
          <a:xfrm>
            <a:off x="731520" y="1463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45,68</a:t>
            </a:r>
            <a:endParaRPr lang="en-US" sz="3400" dirty="0"/>
          </a:p>
        </p:txBody>
      </p:sp>
      <p:sp>
        <p:nvSpPr>
          <p:cNvPr id="5" name="Texto por socio"/>
          <p:cNvSpPr txBox="1"/>
          <p:nvPr/>
        </p:nvSpPr>
        <p:spPr>
          <a:xfrm>
            <a:off x="731520" y="2377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por socio al mes, IVA incluido, si se reparte entre los 36</a:t>
            </a:r>
            <a:endParaRPr lang="en-US" sz="1400" dirty="0"/>
          </a:p>
        </p:txBody>
      </p:sp>
      <p:sp>
        <p:nvSpPr>
          <p:cNvPr id="6" name="Texto por conductor"/>
          <p:cNvSpPr txBox="1"/>
          <p:nvPr/>
        </p:nvSpPr>
        <p:spPr>
          <a:xfrm>
            <a:off x="731520" y="3291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USD 15 + IVA por conductor: 25 % menos que el plan individual</a:t>
            </a:r>
            <a:endParaRPr lang="en-US" sz="1400" dirty="0"/>
          </a:p>
        </p:txBody>
      </p:sp>
      <p:graphicFrame>
        <p:nvGraphicFramePr>
          <p:cNvPr id="8" name="Tabla preci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Concepto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Valor mensual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Tránsito (36 × USD 30)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USD 1 080,00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Abogado de cooperativismo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USD 350,00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Subtotal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USD 1 430,00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IVA 15 %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USD 214,50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USD 1 644,50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Condiciones de pago"/>
          <p:cNvSpPr txBox="1"/>
          <p:nvPr/>
        </p:nvSpPr>
        <p:spPr>
          <a:xfrm>
            <a:off x="4114800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Contrato de 12 meses, pago mensual anticipado, factura a nombre de la cooperativa.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Casos graves y condiciones</a:t>
            </a:r>
            <a:endParaRPr lang="en-US" sz="2600" dirty="0"/>
          </a:p>
        </p:txBody>
      </p:sp>
      <p:sp>
        <p:nvSpPr>
          <p:cNvPr id="3" name="Tarjeta descuento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Descuento"/>
          <p:cNvSpPr txBox="1"/>
          <p:nvPr/>
        </p:nvSpPr>
        <p:spPr>
          <a:xfrm>
            <a:off x="731520" y="1371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35 %</a:t>
            </a:r>
            <a:endParaRPr lang="en-US" sz="4800" dirty="0"/>
          </a:p>
        </p:txBody>
      </p:sp>
      <p:sp>
        <p:nvSpPr>
          <p:cNvPr id="5" name="Texto descuento"/>
          <p:cNvSpPr txBox="1"/>
          <p:nvPr/>
        </p:nvSpPr>
        <p:spPr>
          <a:xfrm>
            <a:off x="73152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 descuento en lo que no cubre la cuota:</a:t>
            </a:r>
            <a:endParaRPr lang="en-US" sz="1400" dirty="0"/>
          </a:p>
        </p:txBody>
      </p:sp>
      <p:sp>
        <p:nvSpPr>
          <p:cNvPr id="6" name="Lista descuento"/>
          <p:cNvSpPr txBox="1"/>
          <p:nvPr/>
        </p:nvSpPr>
        <p:spPr>
          <a:xfrm>
            <a:off x="731520" y="26060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Juicio en procedimiento directo (lesionados)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Procedimiento ordinario (fallecidos)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Juicios y reforma de estatuto de la cooperativa</a:t>
            </a:r>
            <a:endParaRPr lang="en-US" sz="1400" dirty="0"/>
          </a:p>
        </p:txBody>
      </p:sp>
      <p:sp>
        <p:nvSpPr>
          <p:cNvPr id="7" name="Título condiciones"/>
          <p:cNvSpPr txBox="1"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Condiciones</a:t>
            </a:r>
            <a:endParaRPr lang="en-US" sz="1800" dirty="0"/>
          </a:p>
        </p:txBody>
      </p:sp>
      <p:sp>
        <p:nvSpPr>
          <p:cNvPr id="8" name="Lista condiciones"/>
          <p:cNvSpPr txBox="1"/>
          <p:nvPr/>
        </p:nvSpPr>
        <p:spPr>
          <a:xfrm>
            <a:off x="4846320" y="178308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Provincia del Guayas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Hasta 2 conductores registrados por unidad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72 eventos al año en bolsa común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Cobertura desde el día 16 del primer pago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Servicio profesional prepagado, no un seguro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cierre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3" name="Paso cierre 1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Número cierre 1"/>
          <p:cNvSpPr txBox="1"/>
          <p:nvPr/>
        </p:nvSpPr>
        <p:spPr>
          <a:xfrm>
            <a:off x="5486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o cierre 1"/>
          <p:cNvSpPr txBox="1"/>
          <p:nvPr/>
        </p:nvSpPr>
        <p:spPr>
          <a:xfrm>
            <a:off x="548640" y="2423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Aprobación del Consejo de Administración o de la Asamblea</a:t>
            </a:r>
            <a:endParaRPr lang="en-US" sz="1500" dirty="0"/>
          </a:p>
        </p:txBody>
      </p:sp>
      <p:sp>
        <p:nvSpPr>
          <p:cNvPr id="6" name="Paso cierre 2"/>
          <p:cNvSpPr/>
          <p:nvPr/>
        </p:nvSpPr>
        <p:spPr>
          <a:xfrm>
            <a:off x="26060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úmero cierre 2"/>
          <p:cNvSpPr txBox="1"/>
          <p:nvPr/>
        </p:nvSpPr>
        <p:spPr>
          <a:xfrm>
            <a:off x="26060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o cierre 2"/>
          <p:cNvSpPr txBox="1"/>
          <p:nvPr/>
        </p:nvSpPr>
        <p:spPr>
          <a:xfrm>
            <a:off x="2606040" y="2423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Nómina de unidades y conductores</a:t>
            </a:r>
            <a:endParaRPr lang="en-US" sz="1500" dirty="0"/>
          </a:p>
        </p:txBody>
      </p:sp>
      <p:sp>
        <p:nvSpPr>
          <p:cNvPr id="9" name="Paso cierre 3"/>
          <p:cNvSpPr/>
          <p:nvPr/>
        </p:nvSpPr>
        <p:spPr>
          <a:xfrm>
            <a:off x="46634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úmero cierre 3"/>
          <p:cNvSpPr txBox="1"/>
          <p:nvPr/>
        </p:nvSpPr>
        <p:spPr>
          <a:xfrm>
            <a:off x="4663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o cierre 3"/>
          <p:cNvSpPr txBox="1"/>
          <p:nvPr/>
        </p:nvSpPr>
        <p:spPr>
          <a:xfrm>
            <a:off x="4663440" y="2423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Firma del contrato por el Gerente</a:t>
            </a:r>
            <a:endParaRPr lang="en-US" sz="1500" dirty="0"/>
          </a:p>
        </p:txBody>
      </p:sp>
      <p:sp>
        <p:nvSpPr>
          <p:cNvPr id="12" name="Paso cierre 4"/>
          <p:cNvSpPr/>
          <p:nvPr/>
        </p:nvSpPr>
        <p:spPr>
          <a:xfrm>
            <a:off x="67208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úmero cierre 4"/>
          <p:cNvSpPr txBox="1"/>
          <p:nvPr/>
        </p:nvSpPr>
        <p:spPr>
          <a:xfrm>
            <a:off x="67208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Texto cierre 4"/>
          <p:cNvSpPr txBox="1"/>
          <p:nvPr/>
        </p:nvSpPr>
        <p:spPr>
          <a:xfrm>
            <a:off x="6720840" y="2423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Cobertura activa desde el día 16</a:t>
            </a:r>
            <a:endParaRPr lang="en-US" sz="1500" dirty="0"/>
          </a:p>
        </p:txBody>
      </p:sp>
      <p:sp>
        <p:nvSpPr>
          <p:cNvPr id="15" name="Contacto"/>
          <p:cNvSpPr txBox="1"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Jurix Global · [TELÉFONO] · [CORREO]</a:t>
            </a:r>
            <a:endParaRPr lang="en-US" sz="16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548640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rix Global">
  <a:themeElements>
    <a:clrScheme name="Jurix Global">
      <a:dk1>
        <a:srgbClr val="14181F"/>
      </a:dk1>
      <a:lt1>
        <a:srgbClr val="FFFFFF"/>
      </a:lt1>
      <a:dk2>
        <a:srgbClr val="10233D"/>
      </a:dk2>
      <a:lt2>
        <a:srgbClr val="EDF1F5"/>
      </a:lt2>
      <a:accent1>
        <a:srgbClr val="F2B134"/>
      </a:accent1>
      <a:accent2>
        <a:srgbClr val="8A5A00"/>
      </a:accent2>
      <a:accent3>
        <a:srgbClr val="2F5D8A"/>
      </a:accent3>
      <a:accent4>
        <a:srgbClr val="4A5562"/>
      </a:accent4>
      <a:accent5>
        <a:srgbClr val="C9D3DE"/>
      </a:accent5>
      <a:accent6>
        <a:srgbClr val="5FC0B4"/>
      </a:accent6>
      <a:hlink>
        <a:srgbClr val="2F5D8A"/>
      </a:hlink>
      <a:folHlink>
        <a:srgbClr val="4A5562"/>
      </a:folHlink>
    </a:clrScheme>
    <a:fontScheme name="Jurix Glob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Jurix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Jurix Cooperativas</dc:title>
  <dc:subject>PptxGenJS Presentation</dc:subject>
  <dc:creator>Jurix Global</dc:creator>
  <cp:lastModifiedBy>Jurix Global</cp:lastModifiedBy>
  <cp:revision>1</cp:revision>
  <dcterms:created xsi:type="dcterms:W3CDTF">2026-10-05T06:32:35Z</dcterms:created>
  <dcterms:modified xsi:type="dcterms:W3CDTF">2026-10-05T06:32:35Z</dcterms:modified>
</cp:coreProperties>
</file>